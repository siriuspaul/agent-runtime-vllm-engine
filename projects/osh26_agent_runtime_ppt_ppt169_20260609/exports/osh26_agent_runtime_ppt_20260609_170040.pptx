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6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1. Speaker note: explain the slide conclusion first, then connect it to the defense claim that OSH26 is an endpoint Agent Runtime rather than a plain llama.cpp wrapper.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2. Speaker note: explain the slide conclusion first, then connect it to the defense claim that OSH26 is an endpoint Agent Runtime rather than a plain llama.cpp wrapper.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3. Speaker note: explain the slide conclusion first, then connect it to the defense claim that OSH26 is an endpoint Agent Runtime rather than a plain llama.cpp wrapper.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4. Speaker note: explain the slide conclusion first, then connect it to the defense claim that OSH26 is an endpoint Agent Runtime rather than a plain llama.cpp wrapper.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5. Speaker note: explain the slide conclusion first, then connect it to the defense claim that OSH26 is an endpoint Agent Runtime rather than a plain llama.cpp wrapper.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6. Speaker note: explain the slide conclusion first, then connect it to the defense claim that OSH26 is an endpoint Agent Runtime rather than a plain llama.cpp wrapper.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7. Speaker note: explain the slide conclusion first, then connect it to the defense claim that OSH26 is an endpoint Agent Runtime rather than a plain llama.cpp wrapper.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8. Speaker note: explain the slide conclusion first, then connect it to the defense claim that OSH26 is an endpoint Agent Runtime rather than a plain llama.cpp wrapper.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9. Speaker note: explain the slide conclusion first, then connect it to the defense claim that OSH26 is an endpoint Agent Runtime rather than a plain llama.cpp wrapper.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10. Speaker note: explain the slide conclusion first, then connect it to the defense claim that OSH26 is an endpoint Agent Runtime rather than a plain llama.cpp wrapper.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11. Speaker note: explain the slide conclusion first, then connect it to the defense claim that OSH26 is an endpoint Agent Runtime rather than a plain llama.cpp wrapper.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12. Speaker note: explain the slide conclusion first, then connect it to the defense claim that OSH26 is an endpoint Agent Runtime rather than a plain llama.cpp wrapper.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13. Speaker note: explain the slide conclusion first, then connect it to the defense claim that OSH26 is an endpoint Agent Runtime rather than a plain llama.cpp wrapper.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14. Speaker note: explain the slide conclusion first, then connect it to the defense claim that OSH26 is an endpoint Agent Runtime rather than a plain llama.cpp wrapper.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15. Speaker note: explain the slide conclusion first, then connect it to the defense claim that OSH26 is an endpoint Agent Runtime rather than a plain llama.cpp wrapper.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16. Speaker note: explain the slide conclusion first, then connect it to the defense claim that OSH26 is an endpoint Agent Runtime rather than a plain llama.cpp wrapper.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B1020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630555" y="1321118"/>
            <a:ext cx="8705202" cy="2474594"/>
            <a:chOff x="630555" y="1321118"/>
            <a:chExt cx="8705202" cy="2474594"/>
          </a:xfrm>
        </p:grpSpPr>
        <p:sp>
          <p:nvSpPr>
            <p:cNvPr id="5" name="TextBox 5"/>
            <p:cNvSpPr txBox="1"/>
            <p:nvPr/>
          </p:nvSpPr>
          <p:spPr>
            <a:xfrm>
              <a:off x="668655" y="1321118"/>
              <a:ext cx="21324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0A5FA"/>
                  </a:solidFill>
                  <a:latin typeface="Arial"/>
                  <a:ea typeface="Microsoft YaHei"/>
                  <a:cs typeface="Arial"/>
                </a:rPr>
                <a:t>OSH26 COURSE PROJECT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30555" y="1768792"/>
              <a:ext cx="4404477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OSH26 Runtime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55320" y="2522220"/>
              <a:ext cx="8680437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Android-side Agent Runtime for local LLM deployment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64845" y="3136582"/>
              <a:ext cx="8004810" cy="6591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 xml:space="preserve">Built on llama.cpp, but optimized for deployment, memory reuse, </a:t>
              </a:r>
              <a:r>
                <a:rPr lang="zh-CN" sz="16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streaming, cancellation, telemetry, and small-concurrency Agent workloads.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85800" y="4248150"/>
            <a:ext cx="10363200" cy="833438"/>
            <a:chOff x="685800" y="4248150"/>
            <a:chExt cx="10363200" cy="833438"/>
          </a:xfrm>
        </p:grpSpPr>
        <p:sp>
          <p:nvSpPr>
            <p:cNvPr id="10" name="Rectangle 10"/>
            <p:cNvSpPr/>
            <p:nvPr/>
          </p:nvSpPr>
          <p:spPr>
            <a:xfrm>
              <a:off x="685800" y="4248150"/>
              <a:ext cx="10363200" cy="819150"/>
            </a:xfrm>
            <a:prstGeom prst="roundRect">
              <a:avLst>
                <a:gd name="adj" fmla="val 13953"/>
              </a:avLst>
            </a:prstGeom>
            <a:solidFill>
              <a:srgbClr val="16213A"/>
            </a:solidFill>
            <a:ln w="9525">
              <a:solidFill>
                <a:srgbClr val="1F2A44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11555" y="4464368"/>
              <a:ext cx="96995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Core claim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07745" y="4746308"/>
              <a:ext cx="995414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Faster first token, reusable memory, concurrent-ready service, and real-device evidence.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16280" y="5726430"/>
            <a:ext cx="8853726" cy="612458"/>
            <a:chOff x="716280" y="5726430"/>
            <a:chExt cx="8853726" cy="612458"/>
          </a:xfrm>
        </p:grpSpPr>
        <p:sp>
          <p:nvSpPr>
            <p:cNvPr id="14" name="TextBox 14"/>
            <p:cNvSpPr txBox="1"/>
            <p:nvPr/>
          </p:nvSpPr>
          <p:spPr>
            <a:xfrm>
              <a:off x="716280" y="5726430"/>
              <a:ext cx="86194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2C55E"/>
                  </a:solidFill>
                  <a:latin typeface="Consolas"/>
                  <a:ea typeface="Microsoft YaHei"/>
                  <a:cs typeface="Consolas"/>
                </a:rPr>
                <a:t>9.34x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29615" y="6125528"/>
              <a:ext cx="13498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Q8 prefill TTFT gain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192780" y="5726430"/>
              <a:ext cx="86194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2C55E"/>
                  </a:solidFill>
                  <a:latin typeface="Consolas"/>
                  <a:ea typeface="Microsoft YaHei"/>
                  <a:cs typeface="Consolas"/>
                </a:rPr>
                <a:t>3.10x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206115" y="6125528"/>
              <a:ext cx="15458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Prefix cache TTFT gain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897880" y="5726430"/>
              <a:ext cx="37678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60A5FA"/>
                  </a:solidFill>
                  <a:latin typeface="Consolas"/>
                  <a:ea typeface="Microsoft YaHei"/>
                  <a:cs typeface="Consolas"/>
                </a:rPr>
                <a:t>8K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911215" y="6125528"/>
              <a:ext cx="12308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Validated context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164830" y="5726430"/>
              <a:ext cx="21506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60A5FA"/>
                  </a:solidFill>
                  <a:latin typeface="Consolas"/>
                  <a:ea typeface="Microsoft YaHei"/>
                  <a:cs typeface="Consolas"/>
                </a:rPr>
                <a:t>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78165" y="6125528"/>
              <a:ext cx="139184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Hot descriptor alloc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2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B1020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02920" y="255270"/>
            <a:ext cx="11351971" cy="897255"/>
            <a:chOff x="502920" y="255270"/>
            <a:chExt cx="11351971" cy="897255"/>
          </a:xfrm>
        </p:grpSpPr>
        <p:sp>
          <p:nvSpPr>
            <p:cNvPr id="5" name="TextBox 5"/>
            <p:cNvSpPr txBox="1"/>
            <p:nvPr/>
          </p:nvSpPr>
          <p:spPr>
            <a:xfrm>
              <a:off x="502920" y="255270"/>
              <a:ext cx="11351971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We turn llama.cpp from a model runner into an Android Agent Runtime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33400" y="714375"/>
              <a:ext cx="11125200" cy="438150"/>
            </a:xfrm>
            <a:prstGeom prst="roundRect">
              <a:avLst>
                <a:gd name="adj" fmla="val 17391"/>
              </a:avLst>
            </a:prstGeom>
            <a:solidFill>
              <a:srgbClr val="16213A"/>
            </a:solidFill>
            <a:ln w="9525">
              <a:solidFill>
                <a:srgbClr val="1F2A4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25805" y="854392"/>
              <a:ext cx="87023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The innovation is the endpoint runtime layer: lifecycle, memory reuse, scheduling, and telemetry.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12604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02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666750" y="1571625"/>
            <a:ext cx="11049000" cy="2857500"/>
            <a:chOff x="666750" y="1571625"/>
            <a:chExt cx="11049000" cy="2857500"/>
          </a:xfrm>
        </p:grpSpPr>
        <p:sp>
          <p:nvSpPr>
            <p:cNvPr id="10" name="Rectangle 10"/>
            <p:cNvSpPr/>
            <p:nvPr/>
          </p:nvSpPr>
          <p:spPr>
            <a:xfrm>
              <a:off x="666750" y="1571625"/>
              <a:ext cx="3429000" cy="2857500"/>
            </a:xfrm>
            <a:prstGeom prst="roundRect">
              <a:avLst>
                <a:gd name="adj" fmla="val 3333"/>
              </a:avLst>
            </a:prstGeom>
            <a:solidFill>
              <a:srgbClr val="111827"/>
            </a:solidFill>
            <a:ln w="9525">
              <a:solidFill>
                <a:srgbClr val="1F2A44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11542" y="1842611"/>
              <a:ext cx="1794909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60A5FA"/>
                  </a:solidFill>
                  <a:latin typeface="Arial"/>
                  <a:ea typeface="Microsoft YaHei"/>
                  <a:cs typeface="Arial"/>
                </a:rPr>
                <a:t>1. Android loop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16305" y="2330768"/>
              <a:ext cx="2314575" cy="11887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3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 xml:space="preserve">JNI and local HTTP service </a:t>
              </a:r>
              <a:r>
                <a:rPr lang="zh-CN" sz="13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 xml:space="preserve">Streaming token callback </a:t>
              </a:r>
              <a:r>
                <a:rPr lang="zh-CN" sz="13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 xml:space="preserve">cancel / release / health </a:t>
              </a:r>
              <a:r>
                <a:rPr lang="zh-CN" sz="13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OpenAI-style local endpoint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476750" y="1571625"/>
              <a:ext cx="3429000" cy="2857500"/>
            </a:xfrm>
            <a:prstGeom prst="roundRect">
              <a:avLst>
                <a:gd name="adj" fmla="val 3333"/>
              </a:avLst>
            </a:prstGeom>
            <a:solidFill>
              <a:srgbClr val="111827"/>
            </a:solidFill>
            <a:ln w="9525">
              <a:solidFill>
                <a:srgbClr val="1F2A44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721542" y="1842611"/>
              <a:ext cx="1637914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A78BFA"/>
                  </a:solidFill>
                  <a:latin typeface="Arial"/>
                  <a:ea typeface="Microsoft YaHei"/>
                  <a:cs typeface="Arial"/>
                </a:rPr>
                <a:t>2. vLLM ideas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726305" y="2330768"/>
              <a:ext cx="2777490" cy="11887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3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 xml:space="preserve">Prefix KV Cache </a:t>
              </a:r>
              <a:r>
                <a:rPr lang="zh-CN" sz="13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 xml:space="preserve">Chunked prefill </a:t>
              </a:r>
              <a:r>
                <a:rPr lang="zh-CN" sz="13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 xml:space="preserve">Scheduler Lite </a:t>
              </a:r>
              <a:r>
                <a:rPr lang="zh-CN" sz="13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Small-concurrency latency focus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286750" y="1571625"/>
              <a:ext cx="3429000" cy="2857500"/>
            </a:xfrm>
            <a:prstGeom prst="roundRect">
              <a:avLst>
                <a:gd name="adj" fmla="val 3333"/>
              </a:avLst>
            </a:prstGeom>
            <a:solidFill>
              <a:srgbClr val="111827"/>
            </a:solidFill>
            <a:ln w="9525">
              <a:solidFill>
                <a:srgbClr val="1F2A44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531542" y="1842611"/>
              <a:ext cx="1722450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22C55E"/>
                  </a:solidFill>
                  <a:latin typeface="Arial"/>
                  <a:ea typeface="Microsoft YaHei"/>
                  <a:cs typeface="Arial"/>
                </a:rPr>
                <a:t>3. Device data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536305" y="2330768"/>
              <a:ext cx="1800225" cy="11887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3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 xml:space="preserve">Q8 prefill: 9.34x </a:t>
              </a:r>
              <a:r>
                <a:rPr lang="zh-CN" sz="13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 xml:space="preserve">Prefix cache: 3.10x </a:t>
              </a:r>
              <a:r>
                <a:rPr lang="zh-CN" sz="13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 xml:space="preserve">8K context validation </a:t>
              </a:r>
              <a:r>
                <a:rPr lang="zh-CN" sz="13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1.7B Q8 model path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B1020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815340" y="1187768"/>
            <a:ext cx="8260080" cy="2822257"/>
            <a:chOff x="815340" y="1187768"/>
            <a:chExt cx="8260080" cy="2822257"/>
          </a:xfrm>
        </p:grpSpPr>
        <p:sp>
          <p:nvSpPr>
            <p:cNvPr id="5" name="TextBox 5"/>
            <p:cNvSpPr txBox="1"/>
            <p:nvPr/>
          </p:nvSpPr>
          <p:spPr>
            <a:xfrm>
              <a:off x="840105" y="1187768"/>
              <a:ext cx="16126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0A5FA"/>
                  </a:solidFill>
                  <a:latin typeface="Arial"/>
                  <a:ea typeface="Microsoft YaHei"/>
                  <a:cs typeface="Arial"/>
                </a:rPr>
                <a:t>PROBLEM FRAMING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15340" y="1786890"/>
              <a:ext cx="6816662" cy="12230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4350"/>
                </a:lnSpc>
              </a:pPr>
              <a:r>
                <a:rPr lang="zh-CN" sz="33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 xml:space="preserve">Endpoint Agent inference is not </a:t>
              </a:r>
              <a:r>
                <a:rPr lang="zh-CN" sz="33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just running a model once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34390" y="3282315"/>
              <a:ext cx="8241030" cy="7277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 xml:space="preserve">A deployable runtime must manage streaming, cancellation, long context, </a:t>
              </a:r>
              <a:r>
                <a:rPr lang="zh-CN" sz="180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prompt reuse, concurrent tasks, backend fallback, and health metrics.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524750" y="1219200"/>
            <a:ext cx="3724275" cy="4191000"/>
            <a:chOff x="7524750" y="1219200"/>
            <a:chExt cx="3724275" cy="4191000"/>
          </a:xfrm>
        </p:grpSpPr>
        <p:sp>
          <p:nvSpPr>
            <p:cNvPr id="9" name="Rectangle 9"/>
            <p:cNvSpPr/>
            <p:nvPr/>
          </p:nvSpPr>
          <p:spPr>
            <a:xfrm>
              <a:off x="7524750" y="1219200"/>
              <a:ext cx="3429000" cy="4191000"/>
            </a:xfrm>
            <a:prstGeom prst="roundRect">
              <a:avLst>
                <a:gd name="adj" fmla="val 3333"/>
              </a:avLst>
            </a:prstGeom>
            <a:solidFill>
              <a:srgbClr val="111827"/>
            </a:solidFill>
            <a:ln w="9525">
              <a:solidFill>
                <a:srgbClr val="1F2A44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884795" y="1517332"/>
              <a:ext cx="207496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Runtime questions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888605" y="2064068"/>
              <a:ext cx="3360420" cy="1722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850"/>
                </a:lnSpc>
              </a:pPr>
              <a:r>
                <a:rPr lang="zh-CN" sz="13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 xml:space="preserve">1. Is first token fast enough? </a:t>
              </a:r>
              <a:r>
                <a:rPr lang="zh-CN" sz="13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 xml:space="preserve">2. Can KV and prompt be reused? </a:t>
              </a:r>
              <a:r>
                <a:rPr lang="zh-CN" sz="13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 xml:space="preserve">3. Can small concurrency be controlled? </a:t>
              </a:r>
              <a:r>
                <a:rPr lang="zh-CN" sz="13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 xml:space="preserve">4. Can backend failure degrade safely? </a:t>
              </a:r>
              <a:r>
                <a:rPr lang="zh-CN" sz="13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5. Can runtime state be explained?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905750" y="4495800"/>
              <a:ext cx="2667000" cy="495300"/>
            </a:xfrm>
            <a:prstGeom prst="roundRect">
              <a:avLst>
                <a:gd name="adj" fmla="val 15385"/>
              </a:avLst>
            </a:prstGeom>
            <a:solidFill>
              <a:srgbClr val="22C55E">
                <a:alpha val="16000"/>
              </a:srgbClr>
            </a:solidFill>
            <a:ln w="9525">
              <a:solidFill>
                <a:srgbClr val="22C55E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314792" y="4664392"/>
              <a:ext cx="184891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OSH26 focuses here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12604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B1020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02920" y="255270"/>
            <a:ext cx="11155680" cy="897255"/>
            <a:chOff x="502920" y="255270"/>
            <a:chExt cx="11155680" cy="897255"/>
          </a:xfrm>
        </p:grpSpPr>
        <p:sp>
          <p:nvSpPr>
            <p:cNvPr id="5" name="TextBox 5"/>
            <p:cNvSpPr txBox="1"/>
            <p:nvPr/>
          </p:nvSpPr>
          <p:spPr>
            <a:xfrm>
              <a:off x="502920" y="255270"/>
              <a:ext cx="1108313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llama.cpp is the right base, but not the complete Agent framework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33400" y="714375"/>
              <a:ext cx="11125200" cy="438150"/>
            </a:xfrm>
            <a:prstGeom prst="roundRect">
              <a:avLst>
                <a:gd name="adj" fmla="val 17391"/>
              </a:avLst>
            </a:prstGeom>
            <a:solidFill>
              <a:srgbClr val="16213A"/>
            </a:solidFill>
            <a:ln w="9525">
              <a:solidFill>
                <a:srgbClr val="1F2A4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25805" y="854392"/>
              <a:ext cx="679413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OSH26 adds the endpoint runtime layer instead of rewriting model inference.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12604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04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666750" y="1524000"/>
            <a:ext cx="10858500" cy="3810000"/>
            <a:chOff x="666750" y="1524000"/>
            <a:chExt cx="10858500" cy="3810000"/>
          </a:xfrm>
        </p:grpSpPr>
        <p:sp>
          <p:nvSpPr>
            <p:cNvPr id="10" name="Rectangle 10"/>
            <p:cNvSpPr/>
            <p:nvPr/>
          </p:nvSpPr>
          <p:spPr>
            <a:xfrm>
              <a:off x="666750" y="1524000"/>
              <a:ext cx="4953000" cy="3810000"/>
            </a:xfrm>
            <a:prstGeom prst="roundRect">
              <a:avLst>
                <a:gd name="adj" fmla="val 2500"/>
              </a:avLst>
            </a:prstGeom>
            <a:solidFill>
              <a:srgbClr val="111827"/>
            </a:solidFill>
            <a:ln w="9525">
              <a:solidFill>
                <a:srgbClr val="1F2A44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572250" y="1524000"/>
              <a:ext cx="4953000" cy="3810000"/>
            </a:xfrm>
            <a:prstGeom prst="roundRect">
              <a:avLst>
                <a:gd name="adj" fmla="val 2500"/>
              </a:avLst>
            </a:prstGeom>
            <a:solidFill>
              <a:srgbClr val="111827"/>
            </a:solidFill>
            <a:ln w="9525">
              <a:solidFill>
                <a:srgbClr val="1F2A44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22985" y="1789748"/>
              <a:ext cx="253414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60A5FA"/>
                  </a:solidFill>
                  <a:latin typeface="Arial"/>
                  <a:ea typeface="Microsoft YaHei"/>
                  <a:cs typeface="Arial"/>
                </a:rPr>
                <a:t>llama.cpp provides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928485" y="1789748"/>
              <a:ext cx="2657006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2C55E"/>
                  </a:solidFill>
                  <a:latin typeface="Arial"/>
                  <a:ea typeface="Microsoft YaHei"/>
                  <a:cs typeface="Arial"/>
                </a:rPr>
                <a:t>OSH26 Runtime adds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28700" y="2390775"/>
              <a:ext cx="30480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150"/>
                </a:lnSpc>
              </a:pPr>
              <a:r>
                <a:rPr lang="zh-CN" sz="150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 xml:space="preserve">GGUF model ecosystem </a:t>
              </a:r>
              <a:r>
                <a:rPr lang="zh-CN" sz="150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 xml:space="preserve">Tokenizer and sampling base </a:t>
              </a:r>
              <a:r>
                <a:rPr lang="zh-CN" sz="150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 xml:space="preserve">CPU backend and C++ portability </a:t>
              </a:r>
              <a:r>
                <a:rPr lang="zh-CN" sz="150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 xml:space="preserve">Basic server and CLI </a:t>
              </a:r>
              <a:r>
                <a:rPr lang="zh-CN" sz="150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Model loading and core inference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934200" y="2390775"/>
              <a:ext cx="3038475" cy="1905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150"/>
                </a:lnSpc>
              </a:pPr>
              <a:r>
                <a:rPr lang="zh-CN" sz="150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 xml:space="preserve">Android JNI and HTTP service </a:t>
              </a:r>
              <a:r>
                <a:rPr lang="zh-CN" sz="150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 xml:space="preserve">Stream, cancel, release, health </a:t>
              </a:r>
              <a:r>
                <a:rPr lang="zh-CN" sz="150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 xml:space="preserve">Prefix KV Cache </a:t>
              </a:r>
              <a:r>
                <a:rPr lang="zh-CN" sz="150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 xml:space="preserve">Scheduler Lite </a:t>
              </a:r>
              <a:r>
                <a:rPr lang="zh-CN" sz="150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Adreno-targeted Q8 Vulkan path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809750" y="5734050"/>
            <a:ext cx="8572500" cy="514350"/>
            <a:chOff x="1809750" y="5734050"/>
            <a:chExt cx="8572500" cy="514350"/>
          </a:xfrm>
        </p:grpSpPr>
        <p:sp>
          <p:nvSpPr>
            <p:cNvPr id="17" name="Rectangle 17"/>
            <p:cNvSpPr/>
            <p:nvPr/>
          </p:nvSpPr>
          <p:spPr>
            <a:xfrm>
              <a:off x="1809750" y="5734050"/>
              <a:ext cx="8572500" cy="514350"/>
            </a:xfrm>
            <a:prstGeom prst="roundRect">
              <a:avLst>
                <a:gd name="adj" fmla="val 14815"/>
              </a:avLst>
            </a:prstGeom>
            <a:solidFill>
              <a:srgbClr val="2563EB">
                <a:alpha val="18000"/>
              </a:srgbClr>
            </a:solidFill>
            <a:ln w="9525">
              <a:solidFill>
                <a:srgbClr val="2563EB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348984" y="5895975"/>
              <a:ext cx="749403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Not rebuilding the wheel: we put the wheel into an Android Agent vehicle.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B1020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02920" y="255270"/>
            <a:ext cx="11155680" cy="897255"/>
            <a:chOff x="502920" y="255270"/>
            <a:chExt cx="11155680" cy="897255"/>
          </a:xfrm>
        </p:grpSpPr>
        <p:sp>
          <p:nvSpPr>
            <p:cNvPr id="5" name="TextBox 5"/>
            <p:cNvSpPr txBox="1"/>
            <p:nvPr/>
          </p:nvSpPr>
          <p:spPr>
            <a:xfrm>
              <a:off x="502920" y="255270"/>
              <a:ext cx="916769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OSH26 adds a thin Agent-oriented layer above llama.cpp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33400" y="714375"/>
              <a:ext cx="11125200" cy="438150"/>
            </a:xfrm>
            <a:prstGeom prst="roundRect">
              <a:avLst>
                <a:gd name="adj" fmla="val 17391"/>
              </a:avLst>
            </a:prstGeom>
            <a:solidFill>
              <a:srgbClr val="16213A"/>
            </a:solidFill>
            <a:ln w="9525">
              <a:solidFill>
                <a:srgbClr val="1F2A4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25805" y="854392"/>
              <a:ext cx="732520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The design keeps llama.cpp as model base and places runtime capabilities around it.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12604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05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552450" y="2000250"/>
            <a:ext cx="10525125" cy="857250"/>
            <a:chOff x="552450" y="2000250"/>
            <a:chExt cx="10525125" cy="857250"/>
          </a:xfrm>
        </p:grpSpPr>
        <p:sp>
          <p:nvSpPr>
            <p:cNvPr id="10" name="Rectangle 10"/>
            <p:cNvSpPr/>
            <p:nvPr/>
          </p:nvSpPr>
          <p:spPr>
            <a:xfrm>
              <a:off x="552450" y="2000250"/>
              <a:ext cx="1476375" cy="857250"/>
            </a:xfrm>
            <a:prstGeom prst="roundRect">
              <a:avLst>
                <a:gd name="adj" fmla="val 11111"/>
              </a:avLst>
            </a:prstGeom>
            <a:solidFill>
              <a:srgbClr val="111827"/>
            </a:solidFill>
            <a:ln w="9525">
              <a:solidFill>
                <a:srgbClr val="1F2A44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2362200" y="2000250"/>
              <a:ext cx="1476375" cy="857250"/>
            </a:xfrm>
            <a:prstGeom prst="roundRect">
              <a:avLst>
                <a:gd name="adj" fmla="val 11111"/>
              </a:avLst>
            </a:prstGeom>
            <a:solidFill>
              <a:srgbClr val="111827"/>
            </a:solidFill>
            <a:ln w="9525">
              <a:solidFill>
                <a:srgbClr val="1F2A44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4171950" y="2000250"/>
              <a:ext cx="1476375" cy="857250"/>
            </a:xfrm>
            <a:prstGeom prst="roundRect">
              <a:avLst>
                <a:gd name="adj" fmla="val 11111"/>
              </a:avLst>
            </a:prstGeom>
            <a:solidFill>
              <a:srgbClr val="111827"/>
            </a:solidFill>
            <a:ln w="9525">
              <a:solidFill>
                <a:srgbClr val="1F2A44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5981700" y="2000250"/>
              <a:ext cx="1476375" cy="857250"/>
            </a:xfrm>
            <a:prstGeom prst="roundRect">
              <a:avLst>
                <a:gd name="adj" fmla="val 11111"/>
              </a:avLst>
            </a:prstGeom>
            <a:solidFill>
              <a:srgbClr val="111827"/>
            </a:solidFill>
            <a:ln w="9525">
              <a:solidFill>
                <a:srgbClr val="1F2A44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7791450" y="2000250"/>
              <a:ext cx="1476375" cy="857250"/>
            </a:xfrm>
            <a:prstGeom prst="roundRect">
              <a:avLst>
                <a:gd name="adj" fmla="val 11111"/>
              </a:avLst>
            </a:prstGeom>
            <a:solidFill>
              <a:srgbClr val="111827"/>
            </a:solidFill>
            <a:ln w="9525">
              <a:solidFill>
                <a:srgbClr val="1F2A44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9601200" y="2000250"/>
              <a:ext cx="1476375" cy="857250"/>
            </a:xfrm>
            <a:prstGeom prst="roundRect">
              <a:avLst>
                <a:gd name="adj" fmla="val 11111"/>
              </a:avLst>
            </a:prstGeom>
            <a:solidFill>
              <a:srgbClr val="111827"/>
            </a:solidFill>
            <a:ln w="9525">
              <a:solidFill>
                <a:srgbClr val="1F2A44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44189" y="2197418"/>
              <a:ext cx="108337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Agent / App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629549" y="2197418"/>
              <a:ext cx="9321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JNI / HTTP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44024" y="2197418"/>
              <a:ext cx="92270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Scheduler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277402" y="2197418"/>
              <a:ext cx="875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Prefix KV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143860" y="2197418"/>
              <a:ext cx="76203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Backend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986689" y="2197418"/>
              <a:ext cx="6958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Stream</a:t>
              </a:r>
            </a:p>
          </p:txBody>
        </p:sp>
        <p:sp>
          <p:nvSpPr>
            <p:cNvPr id="22" name="Polygon 22"/>
            <p:cNvSpPr/>
            <p:nvPr/>
          </p:nvSpPr>
          <p:spPr>
            <a:xfrm>
              <a:off x="2076450" y="2314575"/>
              <a:ext cx="190500" cy="228600"/>
            </a:xfrm>
            <a:custGeom>
              <a:avLst/>
              <a:gdLst/>
              <a:ahLst/>
              <a:cxnLst/>
              <a:rect l="l" t="t" r="r" b="b"/>
              <a:pathLst>
                <a:path w="190500" h="228600">
                  <a:moveTo>
                    <a:pt x="0" y="114300"/>
                  </a:moveTo>
                  <a:lnTo>
                    <a:pt x="190500" y="0"/>
                  </a:lnTo>
                  <a:lnTo>
                    <a:pt x="190500" y="228600"/>
                  </a:lnTo>
                  <a:close/>
                </a:path>
              </a:pathLst>
            </a:custGeom>
            <a:solidFill>
              <a:srgbClr val="60A5FA"/>
            </a:solidFill>
            <a:ln>
              <a:noFill/>
            </a:ln>
          </p:spPr>
        </p:sp>
        <p:sp>
          <p:nvSpPr>
            <p:cNvPr id="23" name="Polygon 23"/>
            <p:cNvSpPr/>
            <p:nvPr/>
          </p:nvSpPr>
          <p:spPr>
            <a:xfrm>
              <a:off x="3886200" y="2314575"/>
              <a:ext cx="190500" cy="228600"/>
            </a:xfrm>
            <a:custGeom>
              <a:avLst/>
              <a:gdLst/>
              <a:ahLst/>
              <a:cxnLst/>
              <a:rect l="l" t="t" r="r" b="b"/>
              <a:pathLst>
                <a:path w="190500" h="228600">
                  <a:moveTo>
                    <a:pt x="0" y="114300"/>
                  </a:moveTo>
                  <a:lnTo>
                    <a:pt x="190500" y="0"/>
                  </a:lnTo>
                  <a:lnTo>
                    <a:pt x="190500" y="228600"/>
                  </a:lnTo>
                  <a:close/>
                </a:path>
              </a:pathLst>
            </a:custGeom>
            <a:solidFill>
              <a:srgbClr val="60A5FA"/>
            </a:solidFill>
            <a:ln>
              <a:noFill/>
            </a:ln>
          </p:spPr>
        </p:sp>
        <p:sp>
          <p:nvSpPr>
            <p:cNvPr id="24" name="Polygon 24"/>
            <p:cNvSpPr/>
            <p:nvPr/>
          </p:nvSpPr>
          <p:spPr>
            <a:xfrm>
              <a:off x="5695950" y="2314575"/>
              <a:ext cx="190500" cy="228600"/>
            </a:xfrm>
            <a:custGeom>
              <a:avLst/>
              <a:gdLst/>
              <a:ahLst/>
              <a:cxnLst/>
              <a:rect l="l" t="t" r="r" b="b"/>
              <a:pathLst>
                <a:path w="190500" h="228600">
                  <a:moveTo>
                    <a:pt x="0" y="114300"/>
                  </a:moveTo>
                  <a:lnTo>
                    <a:pt x="190500" y="0"/>
                  </a:lnTo>
                  <a:lnTo>
                    <a:pt x="190500" y="228600"/>
                  </a:lnTo>
                  <a:close/>
                </a:path>
              </a:pathLst>
            </a:custGeom>
            <a:solidFill>
              <a:srgbClr val="60A5FA"/>
            </a:solidFill>
            <a:ln>
              <a:noFill/>
            </a:ln>
          </p:spPr>
        </p:sp>
        <p:sp>
          <p:nvSpPr>
            <p:cNvPr id="25" name="Polygon 25"/>
            <p:cNvSpPr/>
            <p:nvPr/>
          </p:nvSpPr>
          <p:spPr>
            <a:xfrm>
              <a:off x="7505700" y="2314575"/>
              <a:ext cx="190500" cy="228600"/>
            </a:xfrm>
            <a:custGeom>
              <a:avLst/>
              <a:gdLst/>
              <a:ahLst/>
              <a:cxnLst/>
              <a:rect l="l" t="t" r="r" b="b"/>
              <a:pathLst>
                <a:path w="190500" h="228600">
                  <a:moveTo>
                    <a:pt x="0" y="114300"/>
                  </a:moveTo>
                  <a:lnTo>
                    <a:pt x="190500" y="0"/>
                  </a:lnTo>
                  <a:lnTo>
                    <a:pt x="190500" y="228600"/>
                  </a:lnTo>
                  <a:close/>
                </a:path>
              </a:pathLst>
            </a:custGeom>
            <a:solidFill>
              <a:srgbClr val="60A5FA"/>
            </a:solidFill>
            <a:ln>
              <a:noFill/>
            </a:ln>
          </p:spPr>
        </p:sp>
        <p:sp>
          <p:nvSpPr>
            <p:cNvPr id="26" name="Polygon 26"/>
            <p:cNvSpPr/>
            <p:nvPr/>
          </p:nvSpPr>
          <p:spPr>
            <a:xfrm>
              <a:off x="9315450" y="2314575"/>
              <a:ext cx="190500" cy="228600"/>
            </a:xfrm>
            <a:custGeom>
              <a:avLst/>
              <a:gdLst/>
              <a:ahLst/>
              <a:cxnLst/>
              <a:rect l="l" t="t" r="r" b="b"/>
              <a:pathLst>
                <a:path w="190500" h="228600">
                  <a:moveTo>
                    <a:pt x="0" y="114300"/>
                  </a:moveTo>
                  <a:lnTo>
                    <a:pt x="190500" y="0"/>
                  </a:lnTo>
                  <a:lnTo>
                    <a:pt x="190500" y="228600"/>
                  </a:lnTo>
                  <a:close/>
                </a:path>
              </a:pathLst>
            </a:custGeom>
            <a:solidFill>
              <a:srgbClr val="60A5FA"/>
            </a:solidFill>
            <a:ln>
              <a:noFill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1143000" y="3676650"/>
            <a:ext cx="9906000" cy="1866900"/>
            <a:chOff x="1143000" y="3676650"/>
            <a:chExt cx="9906000" cy="1866900"/>
          </a:xfrm>
        </p:grpSpPr>
        <p:sp>
          <p:nvSpPr>
            <p:cNvPr id="28" name="Rectangle 28"/>
            <p:cNvSpPr/>
            <p:nvPr/>
          </p:nvSpPr>
          <p:spPr>
            <a:xfrm>
              <a:off x="1143000" y="3676650"/>
              <a:ext cx="9906000" cy="800100"/>
            </a:xfrm>
            <a:prstGeom prst="roundRect">
              <a:avLst>
                <a:gd name="adj" fmla="val 9524"/>
              </a:avLst>
            </a:prstGeom>
            <a:solidFill>
              <a:srgbClr val="16213A"/>
            </a:solidFill>
            <a:ln w="9525">
              <a:solidFill>
                <a:srgbClr val="1F2A44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411605" y="3873818"/>
              <a:ext cx="24537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A78BFA"/>
                  </a:solidFill>
                  <a:latin typeface="Arial"/>
                  <a:ea typeface="Microsoft YaHei"/>
                  <a:cs typeface="Arial"/>
                </a:rPr>
                <a:t>vLLM-inspired mechanisms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413510" y="4175760"/>
              <a:ext cx="449503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Prefix cache / KV reuse / chunked prefill / Scheduler Lite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143000" y="4743450"/>
              <a:ext cx="9906000" cy="800100"/>
            </a:xfrm>
            <a:prstGeom prst="roundRect">
              <a:avLst>
                <a:gd name="adj" fmla="val 9524"/>
              </a:avLst>
            </a:prstGeom>
            <a:solidFill>
              <a:srgbClr val="111827"/>
            </a:solidFill>
            <a:ln w="9525">
              <a:solidFill>
                <a:srgbClr val="1F2A44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411605" y="4940618"/>
              <a:ext cx="138580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C55E"/>
                  </a:solidFill>
                  <a:latin typeface="Arial"/>
                  <a:ea typeface="Microsoft YaHei"/>
                  <a:cs typeface="Arial"/>
                </a:rPr>
                <a:t>llama.cpp base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413510" y="5242560"/>
              <a:ext cx="55191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GGUF / tokenizer / model metadata / CPU fallback / sampling primitives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B1020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02920" y="255270"/>
            <a:ext cx="11155680" cy="897255"/>
            <a:chOff x="502920" y="255270"/>
            <a:chExt cx="11155680" cy="897255"/>
          </a:xfrm>
        </p:grpSpPr>
        <p:sp>
          <p:nvSpPr>
            <p:cNvPr id="5" name="TextBox 5"/>
            <p:cNvSpPr txBox="1"/>
            <p:nvPr/>
          </p:nvSpPr>
          <p:spPr>
            <a:xfrm>
              <a:off x="502920" y="255270"/>
              <a:ext cx="8949271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The Android loop is closed from UI to native generation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33400" y="714375"/>
              <a:ext cx="11125200" cy="438150"/>
            </a:xfrm>
            <a:prstGeom prst="roundRect">
              <a:avLst>
                <a:gd name="adj" fmla="val 17391"/>
              </a:avLst>
            </a:prstGeom>
            <a:solidFill>
              <a:srgbClr val="16213A"/>
            </a:solidFill>
            <a:ln w="9525">
              <a:solidFill>
                <a:srgbClr val="1F2A4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25805" y="854392"/>
              <a:ext cx="73342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The runtime can be called by real apps or local agents, not only benchmark scripts.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12604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06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666750" y="1571625"/>
            <a:ext cx="11049000" cy="2790825"/>
            <a:chOff x="666750" y="1571625"/>
            <a:chExt cx="11049000" cy="2790825"/>
          </a:xfrm>
        </p:grpSpPr>
        <p:sp>
          <p:nvSpPr>
            <p:cNvPr id="10" name="Rectangle 10"/>
            <p:cNvSpPr/>
            <p:nvPr/>
          </p:nvSpPr>
          <p:spPr>
            <a:xfrm>
              <a:off x="666750" y="1571625"/>
              <a:ext cx="3429000" cy="1219200"/>
            </a:xfrm>
            <a:prstGeom prst="roundRect">
              <a:avLst>
                <a:gd name="adj" fmla="val 7812"/>
              </a:avLst>
            </a:prstGeom>
            <a:solidFill>
              <a:srgbClr val="111827"/>
            </a:solidFill>
            <a:ln w="9525">
              <a:solidFill>
                <a:srgbClr val="1F2A44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4476750" y="1571625"/>
              <a:ext cx="3429000" cy="1219200"/>
            </a:xfrm>
            <a:prstGeom prst="roundRect">
              <a:avLst>
                <a:gd name="adj" fmla="val 7812"/>
              </a:avLst>
            </a:prstGeom>
            <a:solidFill>
              <a:srgbClr val="111827"/>
            </a:solidFill>
            <a:ln w="9525">
              <a:solidFill>
                <a:srgbClr val="1F2A44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8286750" y="1571625"/>
              <a:ext cx="3429000" cy="1219200"/>
            </a:xfrm>
            <a:prstGeom prst="roundRect">
              <a:avLst>
                <a:gd name="adj" fmla="val 7812"/>
              </a:avLst>
            </a:prstGeom>
            <a:solidFill>
              <a:srgbClr val="111827"/>
            </a:solidFill>
            <a:ln w="9525">
              <a:solidFill>
                <a:srgbClr val="1F2A44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66750" y="3143250"/>
              <a:ext cx="3429000" cy="1219200"/>
            </a:xfrm>
            <a:prstGeom prst="roundRect">
              <a:avLst>
                <a:gd name="adj" fmla="val 7812"/>
              </a:avLst>
            </a:prstGeom>
            <a:solidFill>
              <a:srgbClr val="111827"/>
            </a:solidFill>
            <a:ln w="9525">
              <a:solidFill>
                <a:srgbClr val="1F2A44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4476750" y="3143250"/>
              <a:ext cx="3429000" cy="1219200"/>
            </a:xfrm>
            <a:prstGeom prst="roundRect">
              <a:avLst>
                <a:gd name="adj" fmla="val 7812"/>
              </a:avLst>
            </a:prstGeom>
            <a:solidFill>
              <a:srgbClr val="111827"/>
            </a:solidFill>
            <a:ln w="9525">
              <a:solidFill>
                <a:srgbClr val="1F2A44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8286750" y="3143250"/>
              <a:ext cx="3429000" cy="1219200"/>
            </a:xfrm>
            <a:prstGeom prst="roundRect">
              <a:avLst>
                <a:gd name="adj" fmla="val 7812"/>
              </a:avLst>
            </a:prstGeom>
            <a:solidFill>
              <a:srgbClr val="111827"/>
            </a:solidFill>
            <a:ln w="9525">
              <a:solidFill>
                <a:srgbClr val="1F2A44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1545" y="1822132"/>
              <a:ext cx="13703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60A5FA"/>
                  </a:solidFill>
                  <a:latin typeface="Consolas"/>
                  <a:ea typeface="Microsoft YaHei"/>
                  <a:cs typeface="Consolas"/>
                </a:rPr>
                <a:t>loadModel()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741545" y="1822132"/>
              <a:ext cx="21211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60A5FA"/>
                  </a:solidFill>
                  <a:latin typeface="Consolas"/>
                  <a:ea typeface="Microsoft YaHei"/>
                  <a:cs typeface="Consolas"/>
                </a:rPr>
                <a:t>generateStream()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551545" y="1822132"/>
              <a:ext cx="100068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60A5FA"/>
                  </a:solidFill>
                  <a:latin typeface="Consolas"/>
                  <a:ea typeface="Microsoft YaHei"/>
                  <a:cs typeface="Consolas"/>
                </a:rPr>
                <a:t>cancel()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31545" y="3393758"/>
              <a:ext cx="112774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2C55E"/>
                  </a:solidFill>
                  <a:latin typeface="Consolas"/>
                  <a:ea typeface="Microsoft YaHei"/>
                  <a:cs typeface="Consolas"/>
                </a:rPr>
                <a:t>release()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41545" y="3393758"/>
              <a:ext cx="201720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2C55E"/>
                  </a:solidFill>
                  <a:latin typeface="Consolas"/>
                  <a:ea typeface="Microsoft YaHei"/>
                  <a:cs typeface="Consolas"/>
                </a:rPr>
                <a:t>getEngineStats()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551545" y="3393758"/>
              <a:ext cx="105843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A78BFA"/>
                  </a:solidFill>
                  <a:latin typeface="Consolas"/>
                  <a:ea typeface="Microsoft YaHei"/>
                  <a:cs typeface="Consolas"/>
                </a:rPr>
                <a:t>/v1/chat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37260" y="2213610"/>
              <a:ext cx="21587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Load GGUF and return state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47260" y="2213610"/>
              <a:ext cx="19347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Token-by-token callback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557260" y="2213610"/>
              <a:ext cx="220675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Interrupt active generation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37260" y="3785235"/>
              <a:ext cx="198272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Release native resources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747260" y="3785235"/>
              <a:ext cx="21827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Expose TTFT / TPS / memory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557260" y="3785235"/>
              <a:ext cx="21587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OpenAI-style local endpoint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598861" y="5191125"/>
            <a:ext cx="8994279" cy="666750"/>
            <a:chOff x="1598861" y="5191125"/>
            <a:chExt cx="8994279" cy="666750"/>
          </a:xfrm>
        </p:grpSpPr>
        <p:sp>
          <p:nvSpPr>
            <p:cNvPr id="29" name="Rectangle 29"/>
            <p:cNvSpPr/>
            <p:nvPr/>
          </p:nvSpPr>
          <p:spPr>
            <a:xfrm>
              <a:off x="1619250" y="5191125"/>
              <a:ext cx="8953500" cy="666750"/>
            </a:xfrm>
            <a:prstGeom prst="roundRect">
              <a:avLst>
                <a:gd name="adj" fmla="val 14286"/>
              </a:avLst>
            </a:prstGeom>
            <a:solidFill>
              <a:srgbClr val="2563EB">
                <a:alpha val="18000"/>
              </a:srgbClr>
            </a:solidFill>
            <a:ln w="9525">
              <a:solidFill>
                <a:srgbClr val="2563EB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598861" y="5422582"/>
              <a:ext cx="899427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Displayable, callable, cancellable, observable: the minimum Agent Runtime loop.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B1020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02920" y="255270"/>
            <a:ext cx="11155680" cy="897255"/>
            <a:chOff x="502920" y="255270"/>
            <a:chExt cx="11155680" cy="897255"/>
          </a:xfrm>
        </p:grpSpPr>
        <p:sp>
          <p:nvSpPr>
            <p:cNvPr id="5" name="TextBox 5"/>
            <p:cNvSpPr txBox="1"/>
            <p:nvPr/>
          </p:nvSpPr>
          <p:spPr>
            <a:xfrm>
              <a:off x="502920" y="255270"/>
              <a:ext cx="983978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Q8 W8A8 prefill cuts first-token latency by 9.34x on device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33400" y="714375"/>
              <a:ext cx="11125200" cy="438150"/>
            </a:xfrm>
            <a:prstGeom prst="roundRect">
              <a:avLst>
                <a:gd name="adj" fmla="val 17391"/>
              </a:avLst>
            </a:prstGeom>
            <a:solidFill>
              <a:srgbClr val="16213A"/>
            </a:solidFill>
            <a:ln w="9525">
              <a:solidFill>
                <a:srgbClr val="1F2A4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25805" y="854392"/>
              <a:ext cx="819831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F16 prefill is replaced by dynamic Q8 activation quantization and packed Q8 projection GEMM.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12604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07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857250" y="1428750"/>
            <a:ext cx="7239000" cy="4476750"/>
            <a:chOff x="857250" y="1428750"/>
            <a:chExt cx="7239000" cy="4476750"/>
          </a:xfrm>
        </p:grpSpPr>
        <p:sp>
          <p:nvSpPr>
            <p:cNvPr id="10" name="Rectangle 10"/>
            <p:cNvSpPr/>
            <p:nvPr/>
          </p:nvSpPr>
          <p:spPr>
            <a:xfrm>
              <a:off x="857250" y="1428750"/>
              <a:ext cx="7239000" cy="4476750"/>
            </a:xfrm>
            <a:prstGeom prst="roundRect">
              <a:avLst>
                <a:gd name="adj" fmla="val 2128"/>
              </a:avLst>
            </a:prstGeom>
            <a:solidFill>
              <a:srgbClr val="111827"/>
            </a:solidFill>
            <a:ln w="9525">
              <a:solidFill>
                <a:srgbClr val="1F2A44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25855" y="1683068"/>
              <a:ext cx="146546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TTFT comparison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1524000" y="5238750"/>
              <a:ext cx="6096000" cy="9525"/>
            </a:xfrm>
            <a:custGeom>
              <a:avLst/>
              <a:gdLst/>
              <a:ahLst/>
              <a:cxnLst/>
              <a:rect l="l" t="t" r="r" b="b"/>
              <a:pathLst>
                <a:path w="6096000" h="9525">
                  <a:moveTo>
                    <a:pt x="0" y="0"/>
                  </a:moveTo>
                  <a:lnTo>
                    <a:pt x="6096000" y="0"/>
                  </a:lnTo>
                </a:path>
              </a:pathLst>
            </a:custGeom>
            <a:noFill/>
            <a:ln w="19050">
              <a:solidFill>
                <a:srgbClr val="334155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1524000" y="219075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19050">
              <a:solidFill>
                <a:srgbClr val="334155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2377440" y="2433638"/>
              <a:ext cx="1047750" cy="2805112"/>
            </a:xfrm>
            <a:prstGeom prst="roundRect">
              <a:avLst>
                <a:gd name="adj" fmla="val 3636"/>
              </a:avLst>
            </a:prstGeom>
            <a:solidFill>
              <a:srgbClr val="EF4444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520300" y="2154555"/>
              <a:ext cx="76203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8FAFC"/>
                  </a:solidFill>
                  <a:latin typeface="Consolas"/>
                  <a:ea typeface="Microsoft YaHei"/>
                  <a:cs typeface="Consolas"/>
                </a:rPr>
                <a:t>7361.61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534436" y="5487352"/>
              <a:ext cx="733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F16 prefill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425440" y="4938712"/>
              <a:ext cx="1047750" cy="300038"/>
            </a:xfrm>
            <a:prstGeom prst="roundRect">
              <a:avLst>
                <a:gd name="adj" fmla="val 12698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620281" y="4659630"/>
              <a:ext cx="6580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8FAFC"/>
                  </a:solidFill>
                  <a:latin typeface="Consolas"/>
                  <a:ea typeface="Microsoft YaHei"/>
                  <a:cs typeface="Consolas"/>
                </a:rPr>
                <a:t>788.56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606939" y="5487352"/>
              <a:ext cx="6847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Q8 prefill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81471" y="1723549"/>
              <a:ext cx="19378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ms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572500" y="1666875"/>
            <a:ext cx="2667000" cy="3381375"/>
            <a:chOff x="8572500" y="1666875"/>
            <a:chExt cx="2667000" cy="3381375"/>
          </a:xfrm>
        </p:grpSpPr>
        <p:sp>
          <p:nvSpPr>
            <p:cNvPr id="22" name="Rectangle 22"/>
            <p:cNvSpPr/>
            <p:nvPr/>
          </p:nvSpPr>
          <p:spPr>
            <a:xfrm>
              <a:off x="8572500" y="1666875"/>
              <a:ext cx="2667000" cy="1476375"/>
            </a:xfrm>
            <a:prstGeom prst="roundRect">
              <a:avLst>
                <a:gd name="adj" fmla="val 7742"/>
              </a:avLst>
            </a:prstGeom>
            <a:solidFill>
              <a:srgbClr val="22C55E">
                <a:alpha val="16000"/>
              </a:srgbClr>
            </a:solidFill>
            <a:ln w="9525">
              <a:solidFill>
                <a:srgbClr val="22C55E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074843" y="1896428"/>
              <a:ext cx="1662315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050" b="1" dirty="0">
                  <a:solidFill>
                    <a:srgbClr val="22C55E"/>
                  </a:solidFill>
                  <a:latin typeface="Consolas"/>
                  <a:ea typeface="Microsoft YaHei"/>
                  <a:cs typeface="Consolas"/>
                </a:rPr>
                <a:t>9.34x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66602" y="2568892"/>
              <a:ext cx="167879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TTFT improvement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572500" y="3524250"/>
              <a:ext cx="2667000" cy="1524000"/>
            </a:xfrm>
            <a:prstGeom prst="roundRect">
              <a:avLst>
                <a:gd name="adj" fmla="val 7500"/>
              </a:avLst>
            </a:prstGeom>
            <a:solidFill>
              <a:srgbClr val="111827"/>
            </a:solidFill>
            <a:ln w="9525">
              <a:solidFill>
                <a:srgbClr val="1F2A44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841105" y="3807142"/>
              <a:ext cx="142361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Why it matters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843010" y="4204335"/>
              <a:ext cx="1973580" cy="7772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 xml:space="preserve">Interactive agents are </a:t>
              </a:r>
              <a:r>
                <a:rPr lang="zh-CN" sz="120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 xml:space="preserve">first-token sensitive. </a:t>
              </a:r>
              <a:r>
                <a:rPr lang="zh-CN" sz="120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This directly improves UX.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B1020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62940" y="730568"/>
            <a:ext cx="7476744" cy="1536382"/>
            <a:chOff x="662940" y="730568"/>
            <a:chExt cx="7476744" cy="1536382"/>
          </a:xfrm>
        </p:grpSpPr>
        <p:sp>
          <p:nvSpPr>
            <p:cNvPr id="5" name="TextBox 5"/>
            <p:cNvSpPr txBox="1"/>
            <p:nvPr/>
          </p:nvSpPr>
          <p:spPr>
            <a:xfrm>
              <a:off x="687705" y="730568"/>
              <a:ext cx="183001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0A5FA"/>
                  </a:solidFill>
                  <a:latin typeface="Arial"/>
                  <a:ea typeface="Microsoft YaHei"/>
                  <a:cs typeface="Arial"/>
                </a:rPr>
                <a:t>DEPLOYMENT RESULT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2940" y="1263015"/>
              <a:ext cx="7476744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Native Q8 keeps sub-second TTFT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81990" y="1901190"/>
              <a:ext cx="682656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It also avoids repeated F16-to-Q8 conversion at startup.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96315" y="3420428"/>
            <a:ext cx="6705552" cy="1327784"/>
            <a:chOff x="996315" y="3420428"/>
            <a:chExt cx="6705552" cy="1327784"/>
          </a:xfrm>
        </p:grpSpPr>
        <p:sp>
          <p:nvSpPr>
            <p:cNvPr id="9" name="TextBox 9"/>
            <p:cNvSpPr txBox="1"/>
            <p:nvPr/>
          </p:nvSpPr>
          <p:spPr>
            <a:xfrm>
              <a:off x="996315" y="3420428"/>
              <a:ext cx="3193406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22C55E"/>
                  </a:solidFill>
                  <a:latin typeface="Consolas"/>
                  <a:ea typeface="Microsoft YaHei"/>
                  <a:cs typeface="Consolas"/>
                </a:rPr>
                <a:t>717.259 ms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85850" y="4076700"/>
              <a:ext cx="444865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Average repeated TTFT on native Q8_0 GGUF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87755" y="4473892"/>
              <a:ext cx="661411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Preserves the 0.7 to 0.84 second TTFT range in a deployable model format.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239000" y="2476500"/>
            <a:ext cx="3714750" cy="2476500"/>
            <a:chOff x="7239000" y="2476500"/>
            <a:chExt cx="3714750" cy="2476500"/>
          </a:xfrm>
        </p:grpSpPr>
        <p:sp>
          <p:nvSpPr>
            <p:cNvPr id="13" name="Rectangle 13"/>
            <p:cNvSpPr/>
            <p:nvPr/>
          </p:nvSpPr>
          <p:spPr>
            <a:xfrm>
              <a:off x="7239000" y="2476500"/>
              <a:ext cx="3714750" cy="2476500"/>
            </a:xfrm>
            <a:prstGeom prst="roundRect">
              <a:avLst>
                <a:gd name="adj" fmla="val 3846"/>
              </a:avLst>
            </a:prstGeom>
            <a:solidFill>
              <a:srgbClr val="111827"/>
            </a:solidFill>
            <a:ln w="9525">
              <a:solidFill>
                <a:srgbClr val="1F2A44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507605" y="2730818"/>
              <a:ext cx="216755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Repeated Native Q8 TTFT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7905750" y="4286250"/>
              <a:ext cx="2571750" cy="9525"/>
            </a:xfrm>
            <a:custGeom>
              <a:avLst/>
              <a:gdLst/>
              <a:ahLst/>
              <a:cxnLst/>
              <a:rect l="l" t="t" r="r" b="b"/>
              <a:pathLst>
                <a:path w="2571750" h="9525">
                  <a:moveTo>
                    <a:pt x="0" y="0"/>
                  </a:moveTo>
                  <a:lnTo>
                    <a:pt x="2571750" y="0"/>
                  </a:lnTo>
                </a:path>
              </a:pathLst>
            </a:custGeom>
            <a:noFill/>
            <a:ln w="19050">
              <a:solidFill>
                <a:srgbClr val="334155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7905750" y="3238500"/>
              <a:ext cx="9525" cy="1047750"/>
            </a:xfrm>
            <a:custGeom>
              <a:avLst/>
              <a:gdLst/>
              <a:ahLst/>
              <a:cxnLst/>
              <a:rect l="l" t="t" r="r" b="b"/>
              <a:pathLst>
                <a:path w="9525" h="1047750">
                  <a:moveTo>
                    <a:pt x="0" y="0"/>
                  </a:moveTo>
                  <a:lnTo>
                    <a:pt x="0" y="1047750"/>
                  </a:lnTo>
                </a:path>
              </a:pathLst>
            </a:custGeom>
            <a:noFill/>
            <a:ln w="19050">
              <a:solidFill>
                <a:srgbClr val="334155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8625840" y="3451860"/>
              <a:ext cx="1047750" cy="834390"/>
            </a:xfrm>
            <a:prstGeom prst="roundRect">
              <a:avLst>
                <a:gd name="adj" fmla="val 4566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976626" y="3172777"/>
              <a:ext cx="34617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8FAFC"/>
                  </a:solidFill>
                  <a:latin typeface="Consolas"/>
                  <a:ea typeface="Microsoft YaHei"/>
                  <a:cs typeface="Consolas"/>
                </a:rPr>
                <a:t>717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20866" y="4534852"/>
              <a:ext cx="2576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avg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438971" y="2771299"/>
              <a:ext cx="19378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ms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04850" y="5429250"/>
            <a:ext cx="10191750" cy="552450"/>
            <a:chOff x="704850" y="5429250"/>
            <a:chExt cx="10191750" cy="552450"/>
          </a:xfrm>
        </p:grpSpPr>
        <p:sp>
          <p:nvSpPr>
            <p:cNvPr id="22" name="Rectangle 22"/>
            <p:cNvSpPr/>
            <p:nvPr/>
          </p:nvSpPr>
          <p:spPr>
            <a:xfrm>
              <a:off x="704850" y="5429250"/>
              <a:ext cx="10191750" cy="552450"/>
            </a:xfrm>
            <a:prstGeom prst="roundRect">
              <a:avLst>
                <a:gd name="adj" fmla="val 13793"/>
              </a:avLst>
            </a:prstGeom>
            <a:solidFill>
              <a:srgbClr val="2563EB">
                <a:alpha val="18000"/>
              </a:srgbClr>
            </a:solidFill>
            <a:ln w="9525">
              <a:solidFill>
                <a:srgbClr val="2563EB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628406" y="5610225"/>
              <a:ext cx="834463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The optimization lands in model format, loading behavior, and runtime execution.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12604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21" grpId="0"/>
      <p:bldP spid="2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B1020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02920" y="255270"/>
            <a:ext cx="12494514" cy="897255"/>
            <a:chOff x="502920" y="255270"/>
            <a:chExt cx="12494514" cy="897255"/>
          </a:xfrm>
        </p:grpSpPr>
        <p:sp>
          <p:nvSpPr>
            <p:cNvPr id="5" name="TextBox 5"/>
            <p:cNvSpPr txBox="1"/>
            <p:nvPr/>
          </p:nvSpPr>
          <p:spPr>
            <a:xfrm>
              <a:off x="502920" y="255270"/>
              <a:ext cx="1249451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Prefix KV Cache converts repeated Agent prompts into immediate TTFT gains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33400" y="714375"/>
              <a:ext cx="11125200" cy="438150"/>
            </a:xfrm>
            <a:prstGeom prst="roundRect">
              <a:avLst>
                <a:gd name="adj" fmla="val 17391"/>
              </a:avLst>
            </a:prstGeom>
            <a:solidFill>
              <a:srgbClr val="16213A"/>
            </a:solidFill>
            <a:ln w="9525">
              <a:solidFill>
                <a:srgbClr val="1F2A4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25805" y="854392"/>
              <a:ext cx="654210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System prompts and tool templates repeat frequently in endpoint agents.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12604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09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666750" y="1504950"/>
            <a:ext cx="5143500" cy="4000500"/>
            <a:chOff x="666750" y="1504950"/>
            <a:chExt cx="5143500" cy="4000500"/>
          </a:xfrm>
        </p:grpSpPr>
        <p:sp>
          <p:nvSpPr>
            <p:cNvPr id="10" name="Rectangle 10"/>
            <p:cNvSpPr/>
            <p:nvPr/>
          </p:nvSpPr>
          <p:spPr>
            <a:xfrm>
              <a:off x="666750" y="1504950"/>
              <a:ext cx="5143500" cy="4000500"/>
            </a:xfrm>
            <a:prstGeom prst="roundRect">
              <a:avLst>
                <a:gd name="adj" fmla="val 2381"/>
              </a:avLst>
            </a:prstGeom>
            <a:solidFill>
              <a:srgbClr val="111827"/>
            </a:solidFill>
            <a:ln w="9525">
              <a:solidFill>
                <a:srgbClr val="1F2A44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35355" y="1759268"/>
              <a:ext cx="4303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TTFT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1333500" y="4838700"/>
              <a:ext cx="4000500" cy="9525"/>
            </a:xfrm>
            <a:custGeom>
              <a:avLst/>
              <a:gdLst/>
              <a:ahLst/>
              <a:cxnLst/>
              <a:rect l="l" t="t" r="r" b="b"/>
              <a:pathLst>
                <a:path w="4000500" h="9525">
                  <a:moveTo>
                    <a:pt x="0" y="0"/>
                  </a:moveTo>
                  <a:lnTo>
                    <a:pt x="4000500" y="0"/>
                  </a:lnTo>
                </a:path>
              </a:pathLst>
            </a:custGeom>
            <a:noFill/>
            <a:ln w="19050">
              <a:solidFill>
                <a:srgbClr val="334155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1333500" y="2266950"/>
              <a:ext cx="9525" cy="2571750"/>
            </a:xfrm>
            <a:custGeom>
              <a:avLst/>
              <a:gdLst/>
              <a:ahLst/>
              <a:cxnLst/>
              <a:rect l="l" t="t" r="r" b="b"/>
              <a:pathLst>
                <a:path w="9525" h="2571750">
                  <a:moveTo>
                    <a:pt x="0" y="0"/>
                  </a:moveTo>
                  <a:lnTo>
                    <a:pt x="0" y="2571750"/>
                  </a:lnTo>
                </a:path>
              </a:pathLst>
            </a:custGeom>
            <a:noFill/>
            <a:ln w="19050">
              <a:solidFill>
                <a:srgbClr val="334155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893570" y="2391728"/>
              <a:ext cx="900112" cy="2446972"/>
            </a:xfrm>
            <a:prstGeom prst="roundRect">
              <a:avLst>
                <a:gd name="adj" fmla="val 4233"/>
              </a:avLst>
            </a:prstGeom>
            <a:solidFill>
              <a:srgbClr val="EF4444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963087" y="2112645"/>
              <a:ext cx="76203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8FAFC"/>
                  </a:solidFill>
                  <a:latin typeface="Consolas"/>
                  <a:ea typeface="Microsoft YaHei"/>
                  <a:cs typeface="Consolas"/>
                </a:rPr>
                <a:t>1902.63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134743" y="5087302"/>
              <a:ext cx="41871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Cold A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3893820" y="4050030"/>
              <a:ext cx="900112" cy="788670"/>
            </a:xfrm>
            <a:prstGeom prst="roundRect">
              <a:avLst>
                <a:gd name="adj" fmla="val 4831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015319" y="3770948"/>
              <a:ext cx="6580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8FAFC"/>
                  </a:solidFill>
                  <a:latin typeface="Consolas"/>
                  <a:ea typeface="Microsoft YaHei"/>
                  <a:cs typeface="Consolas"/>
                </a:rPr>
                <a:t>613.66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040481" y="5087302"/>
              <a:ext cx="6077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Repeat A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295471" y="1799749"/>
              <a:ext cx="19378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ms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381750" y="1504950"/>
            <a:ext cx="5143500" cy="4000500"/>
            <a:chOff x="6381750" y="1504950"/>
            <a:chExt cx="5143500" cy="4000500"/>
          </a:xfrm>
        </p:grpSpPr>
        <p:sp>
          <p:nvSpPr>
            <p:cNvPr id="22" name="Rectangle 22"/>
            <p:cNvSpPr/>
            <p:nvPr/>
          </p:nvSpPr>
          <p:spPr>
            <a:xfrm>
              <a:off x="6381750" y="1504950"/>
              <a:ext cx="5143500" cy="4000500"/>
            </a:xfrm>
            <a:prstGeom prst="roundRect">
              <a:avLst>
                <a:gd name="adj" fmla="val 2381"/>
              </a:avLst>
            </a:prstGeom>
            <a:solidFill>
              <a:srgbClr val="111827"/>
            </a:solidFill>
            <a:ln w="9525">
              <a:solidFill>
                <a:srgbClr val="1F2A44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650355" y="1759268"/>
              <a:ext cx="3313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TPS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7048500" y="4838700"/>
              <a:ext cx="4000500" cy="9525"/>
            </a:xfrm>
            <a:custGeom>
              <a:avLst/>
              <a:gdLst/>
              <a:ahLst/>
              <a:cxnLst/>
              <a:rect l="l" t="t" r="r" b="b"/>
              <a:pathLst>
                <a:path w="4000500" h="9525">
                  <a:moveTo>
                    <a:pt x="0" y="0"/>
                  </a:moveTo>
                  <a:lnTo>
                    <a:pt x="4000500" y="0"/>
                  </a:lnTo>
                </a:path>
              </a:pathLst>
            </a:custGeom>
            <a:noFill/>
            <a:ln w="19050">
              <a:solidFill>
                <a:srgbClr val="334155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7048500" y="2266950"/>
              <a:ext cx="9525" cy="2571750"/>
            </a:xfrm>
            <a:custGeom>
              <a:avLst/>
              <a:gdLst/>
              <a:ahLst/>
              <a:cxnLst/>
              <a:rect l="l" t="t" r="r" b="b"/>
              <a:pathLst>
                <a:path w="9525" h="2571750">
                  <a:moveTo>
                    <a:pt x="0" y="0"/>
                  </a:moveTo>
                  <a:lnTo>
                    <a:pt x="0" y="2571750"/>
                  </a:lnTo>
                </a:path>
              </a:pathLst>
            </a:custGeom>
            <a:noFill/>
            <a:ln w="19050">
              <a:solidFill>
                <a:srgbClr val="334155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7608570" y="3098482"/>
              <a:ext cx="900112" cy="1740218"/>
            </a:xfrm>
            <a:prstGeom prst="roundRect">
              <a:avLst>
                <a:gd name="adj" fmla="val 4233"/>
              </a:avLst>
            </a:prstGeom>
            <a:solidFill>
              <a:srgbClr val="60A5F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781098" y="2819400"/>
              <a:ext cx="5541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8FAFC"/>
                  </a:solidFill>
                  <a:latin typeface="Consolas"/>
                  <a:ea typeface="Microsoft YaHei"/>
                  <a:cs typeface="Consolas"/>
                </a:rPr>
                <a:t>3.383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848790" y="5087302"/>
              <a:ext cx="41871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Cold A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9608820" y="2404110"/>
              <a:ext cx="900112" cy="2434590"/>
            </a:xfrm>
            <a:prstGeom prst="roundRect">
              <a:avLst>
                <a:gd name="adj" fmla="val 4233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781348" y="2125028"/>
              <a:ext cx="5541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8FAFC"/>
                  </a:solidFill>
                  <a:latin typeface="Consolas"/>
                  <a:ea typeface="Microsoft YaHei"/>
                  <a:cs typeface="Consolas"/>
                </a:rPr>
                <a:t>4.734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754529" y="5087302"/>
              <a:ext cx="6077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Repeat A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964966" y="1799749"/>
              <a:ext cx="2392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TPS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3279327" y="5815012"/>
            <a:ext cx="5633347" cy="457200"/>
            <a:chOff x="3279327" y="5815012"/>
            <a:chExt cx="5633347" cy="457200"/>
          </a:xfrm>
        </p:grpSpPr>
        <p:sp>
          <p:nvSpPr>
            <p:cNvPr id="34" name="TextBox 34"/>
            <p:cNvSpPr txBox="1"/>
            <p:nvPr/>
          </p:nvSpPr>
          <p:spPr>
            <a:xfrm>
              <a:off x="3279327" y="5815012"/>
              <a:ext cx="5633347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22C55E"/>
                  </a:solidFill>
                  <a:latin typeface="Consolas"/>
                  <a:ea typeface="Microsoft YaHei"/>
                  <a:cs typeface="Consolas"/>
                </a:rPr>
                <a:t>3.10x TTFT gain, 39.9% TPS increase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3" grpId="0"/>
      <p:bldP spid="3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B1020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02920" y="255270"/>
            <a:ext cx="11351971" cy="897255"/>
            <a:chOff x="502920" y="255270"/>
            <a:chExt cx="11351971" cy="897255"/>
          </a:xfrm>
        </p:grpSpPr>
        <p:sp>
          <p:nvSpPr>
            <p:cNvPr id="5" name="TextBox 5"/>
            <p:cNvSpPr txBox="1"/>
            <p:nvPr/>
          </p:nvSpPr>
          <p:spPr>
            <a:xfrm>
              <a:off x="502920" y="255270"/>
              <a:ext cx="11351971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8K context validation extends the runtime toward real Agent memory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33400" y="714375"/>
              <a:ext cx="11125200" cy="438150"/>
            </a:xfrm>
            <a:prstGeom prst="roundRect">
              <a:avLst>
                <a:gd name="adj" fmla="val 17391"/>
              </a:avLst>
            </a:prstGeom>
            <a:solidFill>
              <a:srgbClr val="16213A"/>
            </a:solidFill>
            <a:ln w="9525">
              <a:solidFill>
                <a:srgbClr val="1F2A4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25805" y="854392"/>
              <a:ext cx="74332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Long context keeps tool instructions, task history, and user preference on device.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12604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10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666750" y="1571625"/>
            <a:ext cx="10858500" cy="1571625"/>
            <a:chOff x="666750" y="1571625"/>
            <a:chExt cx="10858500" cy="1571625"/>
          </a:xfrm>
        </p:grpSpPr>
        <p:sp>
          <p:nvSpPr>
            <p:cNvPr id="10" name="Rectangle 10"/>
            <p:cNvSpPr/>
            <p:nvPr/>
          </p:nvSpPr>
          <p:spPr>
            <a:xfrm>
              <a:off x="666750" y="1571625"/>
              <a:ext cx="3333750" cy="1571625"/>
            </a:xfrm>
            <a:prstGeom prst="roundRect">
              <a:avLst>
                <a:gd name="adj" fmla="val 6061"/>
              </a:avLst>
            </a:prstGeom>
            <a:solidFill>
              <a:srgbClr val="111827"/>
            </a:solidFill>
            <a:ln w="9525">
              <a:solidFill>
                <a:srgbClr val="1F2A44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4429125" y="1571625"/>
              <a:ext cx="3333750" cy="1571625"/>
            </a:xfrm>
            <a:prstGeom prst="roundRect">
              <a:avLst>
                <a:gd name="adj" fmla="val 6061"/>
              </a:avLst>
            </a:prstGeom>
            <a:solidFill>
              <a:srgbClr val="111827"/>
            </a:solidFill>
            <a:ln w="9525">
              <a:solidFill>
                <a:srgbClr val="1F2A44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8191500" y="1571625"/>
              <a:ext cx="3333750" cy="1571625"/>
            </a:xfrm>
            <a:prstGeom prst="roundRect">
              <a:avLst>
                <a:gd name="adj" fmla="val 6061"/>
              </a:avLst>
            </a:prstGeom>
            <a:solidFill>
              <a:srgbClr val="111827"/>
            </a:solidFill>
            <a:ln w="9525">
              <a:solidFill>
                <a:srgbClr val="1F2A44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8690" y="1753552"/>
              <a:ext cx="1350426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60A5FA"/>
                  </a:solidFill>
                  <a:latin typeface="Consolas"/>
                  <a:ea typeface="Microsoft YaHei"/>
                  <a:cs typeface="Consolas"/>
                </a:rPr>
                <a:t>8192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711065" y="1753552"/>
              <a:ext cx="2286093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22C55E"/>
                  </a:solidFill>
                  <a:latin typeface="Consolas"/>
                  <a:ea typeface="Microsoft YaHei"/>
                  <a:cs typeface="Consolas"/>
                </a:rPr>
                <a:t>460.893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73440" y="1753552"/>
              <a:ext cx="1350426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A78BFA"/>
                  </a:solidFill>
                  <a:latin typeface="Consolas"/>
                  <a:ea typeface="Microsoft YaHei"/>
                  <a:cs typeface="Consolas"/>
                </a:rPr>
                <a:t>5488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82980" y="2473642"/>
              <a:ext cx="22305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validated context tokens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745355" y="2473642"/>
              <a:ext cx="196053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ms exact-repeat TTFT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507730" y="2473642"/>
              <a:ext cx="212255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user tokens prefetched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04875" y="4191000"/>
            <a:ext cx="10382250" cy="1514475"/>
            <a:chOff x="904875" y="4191000"/>
            <a:chExt cx="10382250" cy="1514475"/>
          </a:xfrm>
        </p:grpSpPr>
        <p:sp>
          <p:nvSpPr>
            <p:cNvPr id="20" name="Rectangle 20"/>
            <p:cNvSpPr/>
            <p:nvPr/>
          </p:nvSpPr>
          <p:spPr>
            <a:xfrm>
              <a:off x="904875" y="4191000"/>
              <a:ext cx="10382250" cy="819150"/>
            </a:xfrm>
            <a:prstGeom prst="roundRect">
              <a:avLst>
                <a:gd name="adj" fmla="val 11628"/>
              </a:avLst>
            </a:prstGeom>
            <a:solidFill>
              <a:srgbClr val="16213A"/>
            </a:solidFill>
            <a:ln w="9525">
              <a:solidFill>
                <a:srgbClr val="1F2A44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221105" y="4378642"/>
              <a:ext cx="21135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Long prompt execution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22058" y="4701064"/>
              <a:ext cx="7019449" cy="5067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275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 xml:space="preserve">5488 user tokens are split into 43 chunks of 128 tokens, then valid output is generated. </a:t>
              </a:r>
              <a:r>
                <a:rPr lang="zh-CN" sz="1275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This proves the runtime operates beyond the old 1024-token boundary.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619250" y="5429250"/>
              <a:ext cx="1333500" cy="190500"/>
            </a:xfrm>
            <a:prstGeom prst="roundRect">
              <a:avLst>
                <a:gd name="adj" fmla="val 2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3048000" y="5429250"/>
              <a:ext cx="1333500" cy="190500"/>
            </a:xfrm>
            <a:prstGeom prst="roundRect">
              <a:avLst>
                <a:gd name="adj" fmla="val 20000"/>
              </a:avLst>
            </a:prstGeom>
            <a:solidFill>
              <a:srgbClr val="2563EB">
                <a:alpha val="78000"/>
              </a:srgbClr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4476750" y="5429250"/>
              <a:ext cx="1333500" cy="190500"/>
            </a:xfrm>
            <a:prstGeom prst="roundRect">
              <a:avLst>
                <a:gd name="adj" fmla="val 20000"/>
              </a:avLst>
            </a:prstGeom>
            <a:solidFill>
              <a:srgbClr val="2563EB">
                <a:alpha val="57999"/>
              </a:srgbClr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392674" y="5461635"/>
              <a:ext cx="140665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... 43 chunks ...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762875" y="5429250"/>
              <a:ext cx="1333500" cy="190500"/>
            </a:xfrm>
            <a:prstGeom prst="roundRect">
              <a:avLst>
                <a:gd name="adj" fmla="val 2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9191625" y="5429250"/>
              <a:ext cx="952500" cy="190500"/>
            </a:xfrm>
            <a:prstGeom prst="roundRect">
              <a:avLst>
                <a:gd name="adj" fmla="val 20000"/>
              </a:avLst>
            </a:prstGeom>
            <a:solidFill>
              <a:srgbClr val="22C55E">
                <a:alpha val="720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B1020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02920" y="255270"/>
            <a:ext cx="11155680" cy="897255"/>
            <a:chOff x="502920" y="255270"/>
            <a:chExt cx="11155680" cy="897255"/>
          </a:xfrm>
        </p:grpSpPr>
        <p:sp>
          <p:nvSpPr>
            <p:cNvPr id="5" name="TextBox 5"/>
            <p:cNvSpPr txBox="1"/>
            <p:nvPr/>
          </p:nvSpPr>
          <p:spPr>
            <a:xfrm>
              <a:off x="502920" y="255270"/>
              <a:ext cx="9923793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Latest LM-head path reaches zero hot descriptor allocation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33400" y="714375"/>
              <a:ext cx="11125200" cy="438150"/>
            </a:xfrm>
            <a:prstGeom prst="roundRect">
              <a:avLst>
                <a:gd name="adj" fmla="val 17391"/>
              </a:avLst>
            </a:prstGeom>
            <a:solidFill>
              <a:srgbClr val="16213A"/>
            </a:solidFill>
            <a:ln w="9525">
              <a:solidFill>
                <a:srgbClr val="1F2A4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25805" y="854392"/>
              <a:ext cx="662311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Descriptor set cache proves the optimization reaches the Vulkan hot path.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12604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11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666750" y="1476375"/>
            <a:ext cx="6858000" cy="4191000"/>
            <a:chOff x="666750" y="1476375"/>
            <a:chExt cx="6858000" cy="4191000"/>
          </a:xfrm>
        </p:grpSpPr>
        <p:sp>
          <p:nvSpPr>
            <p:cNvPr id="10" name="Rectangle 10"/>
            <p:cNvSpPr/>
            <p:nvPr/>
          </p:nvSpPr>
          <p:spPr>
            <a:xfrm>
              <a:off x="666750" y="1476375"/>
              <a:ext cx="6858000" cy="4191000"/>
            </a:xfrm>
            <a:prstGeom prst="roundRect">
              <a:avLst>
                <a:gd name="adj" fmla="val 2273"/>
              </a:avLst>
            </a:prstGeom>
            <a:solidFill>
              <a:srgbClr val="111827"/>
            </a:solidFill>
            <a:ln w="9525">
              <a:solidFill>
                <a:srgbClr val="1F2A44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35355" y="1730692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Median TTFT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1333500" y="5000625"/>
              <a:ext cx="5715000" cy="9525"/>
            </a:xfrm>
            <a:custGeom>
              <a:avLst/>
              <a:gdLst/>
              <a:ahLst/>
              <a:cxnLst/>
              <a:rect l="l" t="t" r="r" b="b"/>
              <a:pathLst>
                <a:path w="5715000" h="9525">
                  <a:moveTo>
                    <a:pt x="0" y="0"/>
                  </a:moveTo>
                  <a:lnTo>
                    <a:pt x="5715000" y="0"/>
                  </a:lnTo>
                </a:path>
              </a:pathLst>
            </a:custGeom>
            <a:noFill/>
            <a:ln w="19050">
              <a:solidFill>
                <a:srgbClr val="334155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1333500" y="2238375"/>
              <a:ext cx="9525" cy="2762250"/>
            </a:xfrm>
            <a:custGeom>
              <a:avLst/>
              <a:gdLst/>
              <a:ahLst/>
              <a:cxnLst/>
              <a:rect l="l" t="t" r="r" b="b"/>
              <a:pathLst>
                <a:path w="9525" h="2762250">
                  <a:moveTo>
                    <a:pt x="0" y="0"/>
                  </a:moveTo>
                  <a:lnTo>
                    <a:pt x="0" y="2762250"/>
                  </a:lnTo>
                </a:path>
              </a:pathLst>
            </a:custGeom>
            <a:noFill/>
            <a:ln w="19050">
              <a:solidFill>
                <a:srgbClr val="334155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2133600" y="3794760"/>
              <a:ext cx="1047750" cy="1205865"/>
            </a:xfrm>
            <a:prstGeom prst="roundRect">
              <a:avLst>
                <a:gd name="adj" fmla="val 3636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276460" y="3515677"/>
              <a:ext cx="76203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8FAFC"/>
                  </a:solidFill>
                  <a:latin typeface="Consolas"/>
                  <a:ea typeface="Microsoft YaHei"/>
                  <a:cs typeface="Consolas"/>
                </a:rPr>
                <a:t>392.802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360605" y="5249228"/>
              <a:ext cx="59374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0.6B-Q8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991100" y="2416492"/>
              <a:ext cx="1047750" cy="2584132"/>
            </a:xfrm>
            <a:prstGeom prst="roundRect">
              <a:avLst>
                <a:gd name="adj" fmla="val 3636"/>
              </a:avLst>
            </a:prstGeom>
            <a:solidFill>
              <a:srgbClr val="60A5F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133960" y="2137410"/>
              <a:ext cx="76203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8FAFC"/>
                  </a:solidFill>
                  <a:latin typeface="Consolas"/>
                  <a:ea typeface="Microsoft YaHei"/>
                  <a:cs typeface="Consolas"/>
                </a:rPr>
                <a:t>841.991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218105" y="5249228"/>
              <a:ext cx="59374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1.7B-Q8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009971" y="1771174"/>
              <a:ext cx="19378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ms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096250" y="1714500"/>
            <a:ext cx="3019813" cy="3524250"/>
            <a:chOff x="8096250" y="1714500"/>
            <a:chExt cx="3019813" cy="3524250"/>
          </a:xfrm>
        </p:grpSpPr>
        <p:sp>
          <p:nvSpPr>
            <p:cNvPr id="22" name="Rectangle 22"/>
            <p:cNvSpPr/>
            <p:nvPr/>
          </p:nvSpPr>
          <p:spPr>
            <a:xfrm>
              <a:off x="8096250" y="1714500"/>
              <a:ext cx="2857500" cy="971550"/>
            </a:xfrm>
            <a:prstGeom prst="roundRect">
              <a:avLst>
                <a:gd name="adj" fmla="val 9804"/>
              </a:avLst>
            </a:prstGeom>
            <a:solidFill>
              <a:srgbClr val="111827"/>
            </a:solidFill>
            <a:ln w="9525">
              <a:solidFill>
                <a:srgbClr val="1F2A44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8096250" y="2990850"/>
              <a:ext cx="2857500" cy="971550"/>
            </a:xfrm>
            <a:prstGeom prst="roundRect">
              <a:avLst>
                <a:gd name="adj" fmla="val 9804"/>
              </a:avLst>
            </a:prstGeom>
            <a:solidFill>
              <a:srgbClr val="111827"/>
            </a:solidFill>
            <a:ln w="9525">
              <a:solidFill>
                <a:srgbClr val="1F2A44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8096250" y="4267200"/>
              <a:ext cx="2857500" cy="971550"/>
            </a:xfrm>
            <a:prstGeom prst="roundRect">
              <a:avLst>
                <a:gd name="adj" fmla="val 9804"/>
              </a:avLst>
            </a:prstGeom>
            <a:solidFill>
              <a:srgbClr val="111827"/>
            </a:solidFill>
            <a:ln w="9525">
              <a:solidFill>
                <a:srgbClr val="1F2A44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442960" y="1823085"/>
              <a:ext cx="27650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2C55E"/>
                  </a:solidFill>
                  <a:latin typeface="Consolas"/>
                  <a:ea typeface="Microsoft YaHei"/>
                  <a:cs typeface="Consolas"/>
                </a:rPr>
                <a:t>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936355" y="1968818"/>
              <a:ext cx="21797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descriptor alloc median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442960" y="3099435"/>
              <a:ext cx="27650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2C55E"/>
                  </a:solidFill>
                  <a:latin typeface="Consolas"/>
                  <a:ea typeface="Microsoft YaHei"/>
                  <a:cs typeface="Consolas"/>
                </a:rPr>
                <a:t>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936355" y="3245168"/>
              <a:ext cx="131965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submit median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442960" y="4375785"/>
              <a:ext cx="131613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60A5FA"/>
                  </a:solidFill>
                  <a:latin typeface="Consolas"/>
                  <a:ea typeface="Microsoft YaHei"/>
                  <a:cs typeface="Consolas"/>
                </a:rPr>
                <a:t>2.2154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679305" y="4521518"/>
              <a:ext cx="108337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TPS on 1.7B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B1020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02920" y="255270"/>
            <a:ext cx="12444108" cy="897255"/>
            <a:chOff x="502920" y="255270"/>
            <a:chExt cx="12444108" cy="897255"/>
          </a:xfrm>
        </p:grpSpPr>
        <p:sp>
          <p:nvSpPr>
            <p:cNvPr id="5" name="TextBox 5"/>
            <p:cNvSpPr txBox="1"/>
            <p:nvPr/>
          </p:nvSpPr>
          <p:spPr>
            <a:xfrm>
              <a:off x="502920" y="255270"/>
              <a:ext cx="1244410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OpenCL is blocked by Android deployment constraints, not by lack of effort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33400" y="714375"/>
              <a:ext cx="11125200" cy="438150"/>
            </a:xfrm>
            <a:prstGeom prst="roundRect">
              <a:avLst>
                <a:gd name="adj" fmla="val 17391"/>
              </a:avLst>
            </a:prstGeom>
            <a:solidFill>
              <a:srgbClr val="16213A"/>
            </a:solidFill>
            <a:ln w="9525">
              <a:solidFill>
                <a:srgbClr val="1F2A4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25805" y="854392"/>
              <a:ext cx="68751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The goal is a normal deployable Android App, not a one-off rooted phone demo.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12604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12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62000" y="1714500"/>
            <a:ext cx="8870085" cy="1143000"/>
            <a:chOff x="762000" y="1714500"/>
            <a:chExt cx="8870085" cy="1143000"/>
          </a:xfrm>
        </p:grpSpPr>
        <p:sp>
          <p:nvSpPr>
            <p:cNvPr id="10" name="Rectangle 10"/>
            <p:cNvSpPr/>
            <p:nvPr/>
          </p:nvSpPr>
          <p:spPr>
            <a:xfrm>
              <a:off x="762000" y="1714500"/>
              <a:ext cx="2476500" cy="1143000"/>
            </a:xfrm>
            <a:prstGeom prst="roundRect">
              <a:avLst>
                <a:gd name="adj" fmla="val 8333"/>
              </a:avLst>
            </a:prstGeom>
            <a:solidFill>
              <a:srgbClr val="111827"/>
            </a:solidFill>
            <a:ln w="9525">
              <a:solidFill>
                <a:srgbClr val="1F2A44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3905250" y="1714500"/>
              <a:ext cx="2476500" cy="1143000"/>
            </a:xfrm>
            <a:prstGeom prst="roundRect">
              <a:avLst>
                <a:gd name="adj" fmla="val 8333"/>
              </a:avLst>
            </a:prstGeom>
            <a:solidFill>
              <a:srgbClr val="111827"/>
            </a:solidFill>
            <a:ln w="9525">
              <a:solidFill>
                <a:srgbClr val="1F2A44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7048500" y="1714500"/>
              <a:ext cx="2476500" cy="1143000"/>
            </a:xfrm>
            <a:prstGeom prst="roundRect">
              <a:avLst>
                <a:gd name="adj" fmla="val 8333"/>
              </a:avLst>
            </a:prstGeom>
            <a:solidFill>
              <a:srgbClr val="111827"/>
            </a:solidFill>
            <a:ln w="9525">
              <a:solidFill>
                <a:srgbClr val="1F2A44"/>
              </a:solidFill>
            </a:ln>
          </p:spPr>
        </p:sp>
        <p:sp>
          <p:nvSpPr>
            <p:cNvPr id="13" name="Polygon 13"/>
            <p:cNvSpPr/>
            <p:nvPr/>
          </p:nvSpPr>
          <p:spPr>
            <a:xfrm>
              <a:off x="3429000" y="2114550"/>
              <a:ext cx="304800" cy="342900"/>
            </a:xfrm>
            <a:custGeom>
              <a:avLst/>
              <a:gdLst/>
              <a:ahLst/>
              <a:cxnLst/>
              <a:rect l="l" t="t" r="r" b="b"/>
              <a:pathLst>
                <a:path w="304800" h="342900">
                  <a:moveTo>
                    <a:pt x="0" y="171450"/>
                  </a:moveTo>
                  <a:lnTo>
                    <a:pt x="304800" y="0"/>
                  </a:lnTo>
                  <a:lnTo>
                    <a:pt x="304800" y="342900"/>
                  </a:lnTo>
                  <a:close/>
                </a:path>
              </a:pathLst>
            </a:custGeom>
            <a:solidFill>
              <a:srgbClr val="EF4444"/>
            </a:solidFill>
            <a:ln>
              <a:noFill/>
            </a:ln>
          </p:spPr>
        </p:sp>
        <p:sp>
          <p:nvSpPr>
            <p:cNvPr id="14" name="Polygon 14"/>
            <p:cNvSpPr/>
            <p:nvPr/>
          </p:nvSpPr>
          <p:spPr>
            <a:xfrm>
              <a:off x="6572250" y="2114550"/>
              <a:ext cx="304800" cy="342900"/>
            </a:xfrm>
            <a:custGeom>
              <a:avLst/>
              <a:gdLst/>
              <a:ahLst/>
              <a:cxnLst/>
              <a:rect l="l" t="t" r="r" b="b"/>
              <a:pathLst>
                <a:path w="304800" h="342900">
                  <a:moveTo>
                    <a:pt x="0" y="171450"/>
                  </a:moveTo>
                  <a:lnTo>
                    <a:pt x="304800" y="0"/>
                  </a:lnTo>
                  <a:lnTo>
                    <a:pt x="304800" y="342900"/>
                  </a:lnTo>
                  <a:close/>
                </a:path>
              </a:pathLst>
            </a:custGeom>
            <a:solidFill>
              <a:srgbClr val="EF4444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28700" y="1981200"/>
              <a:ext cx="136126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0A5FA"/>
                  </a:solidFill>
                  <a:latin typeface="Consolas"/>
                  <a:ea typeface="Microsoft YaHei"/>
                  <a:cs typeface="Consolas"/>
                </a:rPr>
                <a:t>libOpenCL.so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171950" y="1981200"/>
              <a:ext cx="187583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vendor namespace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15200" y="1981200"/>
              <a:ext cx="231688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dependency chain fails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32510" y="2366010"/>
              <a:ext cx="1752600" cy="4724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 xml:space="preserve">System vendor library, </a:t>
              </a:r>
              <a:r>
                <a:rPr lang="zh-CN" sz="120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not public app path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175760" y="2366010"/>
              <a:ext cx="1882140" cy="4724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 xml:space="preserve">Android linker namespace </a:t>
              </a:r>
              <a:r>
                <a:rPr lang="zh-CN" sz="120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isolates app loading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319010" y="2366010"/>
              <a:ext cx="1653540" cy="4724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 xml:space="preserve">libcutils and VNDK </a:t>
              </a:r>
              <a:r>
                <a:rPr lang="zh-CN" sz="120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dependencies still fail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143000" y="3714750"/>
            <a:ext cx="11799570" cy="1314450"/>
            <a:chOff x="1143000" y="3714750"/>
            <a:chExt cx="11799570" cy="1314450"/>
          </a:xfrm>
        </p:grpSpPr>
        <p:sp>
          <p:nvSpPr>
            <p:cNvPr id="22" name="Rectangle 22"/>
            <p:cNvSpPr/>
            <p:nvPr/>
          </p:nvSpPr>
          <p:spPr>
            <a:xfrm>
              <a:off x="1143000" y="3714750"/>
              <a:ext cx="9525000" cy="1314450"/>
            </a:xfrm>
            <a:prstGeom prst="roundRect">
              <a:avLst>
                <a:gd name="adj" fmla="val 7246"/>
              </a:avLst>
            </a:prstGeom>
            <a:solidFill>
              <a:srgbClr val="EF4444">
                <a:alpha val="14000"/>
              </a:srgbClr>
            </a:solidFill>
            <a:ln w="9525">
              <a:solidFill>
                <a:srgbClr val="EF4444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503045" y="3993832"/>
              <a:ext cx="232909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Measured conclusion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506855" y="4426268"/>
              <a:ext cx="114357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3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 xml:space="preserve">Copying vendor libraries, preloading dependencies, wrapping OpenCL symbols, and android_dlopen_ext did not produce a deployable path. </a:t>
              </a:r>
              <a:r>
                <a:rPr lang="zh-CN" sz="13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Root or Magisk may work, but that violates the course project's deployability target.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320826" y="5727382"/>
            <a:ext cx="7550348" cy="335280"/>
            <a:chOff x="2320826" y="5727382"/>
            <a:chExt cx="7550348" cy="335280"/>
          </a:xfrm>
        </p:grpSpPr>
        <p:sp>
          <p:nvSpPr>
            <p:cNvPr id="26" name="TextBox 26"/>
            <p:cNvSpPr txBox="1"/>
            <p:nvPr/>
          </p:nvSpPr>
          <p:spPr>
            <a:xfrm>
              <a:off x="2320826" y="5727382"/>
              <a:ext cx="755034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2C55E"/>
                  </a:solidFill>
                  <a:latin typeface="Arial"/>
                  <a:ea typeface="Microsoft YaHei"/>
                  <a:cs typeface="Arial"/>
                </a:rPr>
                <a:t>OpenCL is a documented risk path, not the main deployment route.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5" grpId="0"/>
      <p:bldP spid="2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B1020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02920" y="255270"/>
            <a:ext cx="11155680" cy="897255"/>
            <a:chOff x="502920" y="255270"/>
            <a:chExt cx="11155680" cy="897255"/>
          </a:xfrm>
        </p:grpSpPr>
        <p:sp>
          <p:nvSpPr>
            <p:cNvPr id="5" name="TextBox 5"/>
            <p:cNvSpPr txBox="1"/>
            <p:nvPr/>
          </p:nvSpPr>
          <p:spPr>
            <a:xfrm>
              <a:off x="502920" y="255270"/>
              <a:ext cx="1005821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Native ggml Vulkan is too fragile for the target Adreno stack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33400" y="714375"/>
              <a:ext cx="11125200" cy="438150"/>
            </a:xfrm>
            <a:prstGeom prst="roundRect">
              <a:avLst>
                <a:gd name="adj" fmla="val 17391"/>
              </a:avLst>
            </a:prstGeom>
            <a:solidFill>
              <a:srgbClr val="16213A"/>
            </a:solidFill>
            <a:ln w="9525">
              <a:solidFill>
                <a:srgbClr val="1F2A4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25805" y="854392"/>
              <a:ext cx="79912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Vulkan availability does not guarantee shader and buffer correctness on each Android GPU.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12604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13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666750" y="1619250"/>
            <a:ext cx="10858500" cy="3333750"/>
            <a:chOff x="666750" y="1619250"/>
            <a:chExt cx="10858500" cy="3333750"/>
          </a:xfrm>
        </p:grpSpPr>
        <p:sp>
          <p:nvSpPr>
            <p:cNvPr id="10" name="Rectangle 10"/>
            <p:cNvSpPr/>
            <p:nvPr/>
          </p:nvSpPr>
          <p:spPr>
            <a:xfrm>
              <a:off x="666750" y="1619250"/>
              <a:ext cx="10858500" cy="3333750"/>
            </a:xfrm>
            <a:prstGeom prst="roundRect">
              <a:avLst>
                <a:gd name="adj" fmla="val 2857"/>
              </a:avLst>
            </a:prstGeom>
            <a:solidFill>
              <a:srgbClr val="111827"/>
            </a:solidFill>
            <a:ln w="9525">
              <a:solidFill>
                <a:srgbClr val="1F2A44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619250" y="3333750"/>
              <a:ext cx="8572500" cy="9525"/>
            </a:xfrm>
            <a:custGeom>
              <a:avLst/>
              <a:gdLst/>
              <a:ahLst/>
              <a:cxnLst/>
              <a:rect l="l" t="t" r="r" b="b"/>
              <a:pathLst>
                <a:path w="8572500" h="9525">
                  <a:moveTo>
                    <a:pt x="0" y="0"/>
                  </a:moveTo>
                  <a:lnTo>
                    <a:pt x="8572500" y="0"/>
                  </a:lnTo>
                </a:path>
              </a:pathLst>
            </a:custGeom>
            <a:noFill/>
            <a:ln w="28575">
              <a:solidFill>
                <a:srgbClr val="334155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1876425" y="3209925"/>
              <a:ext cx="247650" cy="247650"/>
            </a:xfrm>
            <a:prstGeom prst="ellipse">
              <a:avLst/>
            </a:prstGeom>
            <a:solidFill>
              <a:srgbClr val="60A5FA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4352925" y="3209925"/>
              <a:ext cx="247650" cy="247650"/>
            </a:xfrm>
            <a:prstGeom prst="ellipse">
              <a:avLst/>
            </a:prstGeom>
            <a:solidFill>
              <a:srgbClr val="60A5FA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6829425" y="3209925"/>
              <a:ext cx="247650" cy="24765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9305925" y="3209925"/>
              <a:ext cx="247650" cy="24765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553528" y="2608421"/>
              <a:ext cx="120341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Build passes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839528" y="2608421"/>
              <a:ext cx="131315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Init succeeds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16028" y="2608421"/>
              <a:ext cx="1143558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Version gap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744902" y="2608421"/>
              <a:ext cx="1742133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Corrupted output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71588" y="3736181"/>
              <a:ext cx="1311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vendored headers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700462" y="3736181"/>
              <a:ext cx="15212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Adreno 650 detected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176962" y="3736181"/>
              <a:ext cx="21063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ggml-vulkan leans Vulkan 1.2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510588" y="3736181"/>
              <a:ext cx="252638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shader / buffer correctness fails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524000" y="5334000"/>
            <a:ext cx="9144000" cy="590550"/>
            <a:chOff x="1524000" y="5334000"/>
            <a:chExt cx="9144000" cy="590550"/>
          </a:xfrm>
        </p:grpSpPr>
        <p:sp>
          <p:nvSpPr>
            <p:cNvPr id="25" name="Rectangle 25"/>
            <p:cNvSpPr/>
            <p:nvPr/>
          </p:nvSpPr>
          <p:spPr>
            <a:xfrm>
              <a:off x="1524000" y="5334000"/>
              <a:ext cx="9144000" cy="590550"/>
            </a:xfrm>
            <a:prstGeom prst="roundRect">
              <a:avLst>
                <a:gd name="adj" fmla="val 12903"/>
              </a:avLst>
            </a:prstGeom>
            <a:solidFill>
              <a:srgbClr val="2563EB">
                <a:alpha val="18000"/>
              </a:srgbClr>
            </a:solidFill>
            <a:ln w="9525">
              <a:solidFill>
                <a:srgbClr val="2563EB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582748" y="5535454"/>
              <a:ext cx="9026503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OSH26 chooses controlled Vulkan 1.1 kernels, correctness gates, and CPU fallback.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B1020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02920" y="255270"/>
            <a:ext cx="14359547" cy="897255"/>
            <a:chOff x="502920" y="255270"/>
            <a:chExt cx="14359547" cy="897255"/>
          </a:xfrm>
        </p:grpSpPr>
        <p:sp>
          <p:nvSpPr>
            <p:cNvPr id="5" name="TextBox 5"/>
            <p:cNvSpPr txBox="1"/>
            <p:nvPr/>
          </p:nvSpPr>
          <p:spPr>
            <a:xfrm>
              <a:off x="502920" y="255270"/>
              <a:ext cx="14359547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OSH26 fills the gap between model libraries, server runtimes, and mobile graph engines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33400" y="714375"/>
              <a:ext cx="11125200" cy="438150"/>
            </a:xfrm>
            <a:prstGeom prst="roundRect">
              <a:avLst>
                <a:gd name="adj" fmla="val 17391"/>
              </a:avLst>
            </a:prstGeom>
            <a:solidFill>
              <a:srgbClr val="16213A"/>
            </a:solidFill>
            <a:ln w="9525">
              <a:solidFill>
                <a:srgbClr val="1F2A4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25805" y="854392"/>
              <a:ext cx="631707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The comparison criterion is endpoint Agent deployment, not popularity.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12604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14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666750" y="1476375"/>
            <a:ext cx="10858500" cy="4095750"/>
            <a:chOff x="666750" y="1476375"/>
            <a:chExt cx="10858500" cy="4095750"/>
          </a:xfrm>
        </p:grpSpPr>
        <p:sp>
          <p:nvSpPr>
            <p:cNvPr id="10" name="Rectangle 10"/>
            <p:cNvSpPr/>
            <p:nvPr/>
          </p:nvSpPr>
          <p:spPr>
            <a:xfrm>
              <a:off x="666750" y="1476375"/>
              <a:ext cx="10858500" cy="4095750"/>
            </a:xfrm>
            <a:prstGeom prst="roundRect">
              <a:avLst>
                <a:gd name="adj" fmla="val 2326"/>
              </a:avLst>
            </a:prstGeom>
            <a:solidFill>
              <a:srgbClr val="111827"/>
            </a:solidFill>
            <a:ln w="9525">
              <a:solidFill>
                <a:srgbClr val="1F2A44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666750" y="2143125"/>
              <a:ext cx="10858500" cy="9525"/>
            </a:xfrm>
            <a:custGeom>
              <a:avLst/>
              <a:gdLst/>
              <a:ahLst/>
              <a:cxnLst/>
              <a:rect l="l" t="t" r="r" b="b"/>
              <a:pathLst>
                <a:path w="10858500" h="9525">
                  <a:moveTo>
                    <a:pt x="0" y="0"/>
                  </a:moveTo>
                  <a:lnTo>
                    <a:pt x="10858500" y="0"/>
                  </a:lnTo>
                </a:path>
              </a:pathLst>
            </a:custGeom>
            <a:noFill/>
            <a:ln w="19050">
              <a:solidFill>
                <a:srgbClr val="334155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666750" y="2905125"/>
              <a:ext cx="10858500" cy="9525"/>
            </a:xfrm>
            <a:custGeom>
              <a:avLst/>
              <a:gdLst/>
              <a:ahLst/>
              <a:cxnLst/>
              <a:rect l="l" t="t" r="r" b="b"/>
              <a:pathLst>
                <a:path w="10858500" h="9525">
                  <a:moveTo>
                    <a:pt x="0" y="0"/>
                  </a:moveTo>
                  <a:lnTo>
                    <a:pt x="10858500" y="0"/>
                  </a:lnTo>
                </a:path>
              </a:pathLst>
            </a:custGeom>
            <a:noFill/>
            <a:ln w="9525">
              <a:solidFill>
                <a:srgbClr val="1F2A44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666750" y="3667125"/>
              <a:ext cx="10858500" cy="9525"/>
            </a:xfrm>
            <a:custGeom>
              <a:avLst/>
              <a:gdLst/>
              <a:ahLst/>
              <a:cxnLst/>
              <a:rect l="l" t="t" r="r" b="b"/>
              <a:pathLst>
                <a:path w="10858500" h="9525">
                  <a:moveTo>
                    <a:pt x="0" y="0"/>
                  </a:moveTo>
                  <a:lnTo>
                    <a:pt x="10858500" y="0"/>
                  </a:lnTo>
                </a:path>
              </a:pathLst>
            </a:custGeom>
            <a:noFill/>
            <a:ln w="9525">
              <a:solidFill>
                <a:srgbClr val="1F2A44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666750" y="4429125"/>
              <a:ext cx="10858500" cy="9525"/>
            </a:xfrm>
            <a:custGeom>
              <a:avLst/>
              <a:gdLst/>
              <a:ahLst/>
              <a:cxnLst/>
              <a:rect l="l" t="t" r="r" b="b"/>
              <a:pathLst>
                <a:path w="10858500" h="9525">
                  <a:moveTo>
                    <a:pt x="0" y="0"/>
                  </a:moveTo>
                  <a:lnTo>
                    <a:pt x="10858500" y="0"/>
                  </a:lnTo>
                </a:path>
              </a:pathLst>
            </a:custGeom>
            <a:noFill/>
            <a:ln w="9525">
              <a:solidFill>
                <a:srgbClr val="1F2A44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2857500" y="1476375"/>
              <a:ext cx="9525" cy="4095750"/>
            </a:xfrm>
            <a:custGeom>
              <a:avLst/>
              <a:gdLst/>
              <a:ahLst/>
              <a:cxnLst/>
              <a:rect l="l" t="t" r="r" b="b"/>
              <a:pathLst>
                <a:path w="9525" h="4095750">
                  <a:moveTo>
                    <a:pt x="0" y="0"/>
                  </a:moveTo>
                  <a:lnTo>
                    <a:pt x="0" y="4095750"/>
                  </a:lnTo>
                </a:path>
              </a:pathLst>
            </a:custGeom>
            <a:noFill/>
            <a:ln w="19050">
              <a:solidFill>
                <a:srgbClr val="334155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4953000" y="1476375"/>
              <a:ext cx="9525" cy="4095750"/>
            </a:xfrm>
            <a:custGeom>
              <a:avLst/>
              <a:gdLst/>
              <a:ahLst/>
              <a:cxnLst/>
              <a:rect l="l" t="t" r="r" b="b"/>
              <a:pathLst>
                <a:path w="9525" h="4095750">
                  <a:moveTo>
                    <a:pt x="0" y="0"/>
                  </a:moveTo>
                  <a:lnTo>
                    <a:pt x="0" y="4095750"/>
                  </a:lnTo>
                </a:path>
              </a:pathLst>
            </a:custGeom>
            <a:noFill/>
            <a:ln w="9525">
              <a:solidFill>
                <a:srgbClr val="1F2A44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7048500" y="1476375"/>
              <a:ext cx="9525" cy="4095750"/>
            </a:xfrm>
            <a:custGeom>
              <a:avLst/>
              <a:gdLst/>
              <a:ahLst/>
              <a:cxnLst/>
              <a:rect l="l" t="t" r="r" b="b"/>
              <a:pathLst>
                <a:path w="9525" h="4095750">
                  <a:moveTo>
                    <a:pt x="0" y="0"/>
                  </a:moveTo>
                  <a:lnTo>
                    <a:pt x="0" y="4095750"/>
                  </a:lnTo>
                </a:path>
              </a:pathLst>
            </a:custGeom>
            <a:noFill/>
            <a:ln w="9525">
              <a:solidFill>
                <a:srgbClr val="1F2A44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9144000" y="1476375"/>
              <a:ext cx="9525" cy="4095750"/>
            </a:xfrm>
            <a:custGeom>
              <a:avLst/>
              <a:gdLst/>
              <a:ahLst/>
              <a:cxnLst/>
              <a:rect l="l" t="t" r="r" b="b"/>
              <a:pathLst>
                <a:path w="9525" h="4095750">
                  <a:moveTo>
                    <a:pt x="0" y="0"/>
                  </a:moveTo>
                  <a:lnTo>
                    <a:pt x="0" y="4095750"/>
                  </a:lnTo>
                </a:path>
              </a:pathLst>
            </a:custGeom>
            <a:noFill/>
            <a:ln w="9525">
              <a:solidFill>
                <a:srgbClr val="1F2A44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53592" y="1759268"/>
              <a:ext cx="104556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Framework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472253" y="1759268"/>
              <a:ext cx="86599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Strength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827661" y="1759268"/>
              <a:ext cx="34617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Gap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15997" y="1759268"/>
              <a:ext cx="96050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OSH26 use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849277" y="1759268"/>
              <a:ext cx="875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Agent fit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19750" y="2445068"/>
              <a:ext cx="9132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60A5FA"/>
                  </a:solidFill>
                  <a:latin typeface="Consolas"/>
                  <a:ea typeface="Microsoft YaHei"/>
                  <a:cs typeface="Consolas"/>
                </a:rPr>
                <a:t>llama.cpp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232402" y="3207068"/>
              <a:ext cx="48794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A78BFA"/>
                  </a:solidFill>
                  <a:latin typeface="Consolas"/>
                  <a:ea typeface="Microsoft YaHei"/>
                  <a:cs typeface="Consolas"/>
                </a:rPr>
                <a:t>vLLM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84383" y="3969068"/>
              <a:ext cx="3839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2C55E"/>
                  </a:solidFill>
                  <a:latin typeface="Consolas"/>
                  <a:ea typeface="Microsoft YaHei"/>
                  <a:cs typeface="Consolas"/>
                </a:rPr>
                <a:t>MNN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80420" y="4731068"/>
              <a:ext cx="59191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8FAFC"/>
                  </a:solidFill>
                  <a:latin typeface="Consolas"/>
                  <a:ea typeface="Microsoft YaHei"/>
                  <a:cs typeface="Consolas"/>
                </a:rPr>
                <a:t>OSH26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305889" y="2469356"/>
              <a:ext cx="11987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GGUF / C++ / CPU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442645" y="2469356"/>
              <a:ext cx="111621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Agent lifecycle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91914" y="2469356"/>
              <a:ext cx="80867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Model base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905655" y="2428875"/>
              <a:ext cx="7626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2C55E"/>
                  </a:solidFill>
                  <a:latin typeface="Arial"/>
                  <a:ea typeface="Microsoft YaHei"/>
                  <a:cs typeface="Arial"/>
                </a:rPr>
                <a:t>Medium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287137" y="3231356"/>
              <a:ext cx="123622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Paged / batching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153858" y="3231356"/>
              <a:ext cx="16937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CUDA / Python / server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09403" y="3231356"/>
              <a:ext cx="97369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Borrow ideas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905655" y="3190875"/>
              <a:ext cx="7626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2C55E"/>
                  </a:solidFill>
                  <a:latin typeface="Arial"/>
                  <a:ea typeface="Microsoft YaHei"/>
                  <a:cs typeface="Arial"/>
                </a:rPr>
                <a:t>Medium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272135" y="3993356"/>
              <a:ext cx="126623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Mobile operators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62622" y="3993356"/>
              <a:ext cx="14762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Not Agent-centered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343120" y="3993356"/>
              <a:ext cx="15062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Operator reference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847898" y="39528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60A5FA"/>
                  </a:solidFill>
                  <a:latin typeface="Arial"/>
                  <a:ea typeface="Microsoft YaHei"/>
                  <a:cs typeface="Arial"/>
                </a:rPr>
                <a:t>Low-Mid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972098" y="4755356"/>
              <a:ext cx="186630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Deploy + cache + schedule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176361" y="4755356"/>
              <a:ext cx="164877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Prototype, extensible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234357" y="4755356"/>
              <a:ext cx="172378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Endpoint Agent runtime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063174" y="4714875"/>
              <a:ext cx="44765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2C55E"/>
                  </a:solidFill>
                  <a:latin typeface="Arial"/>
                  <a:ea typeface="Microsoft YaHei"/>
                  <a:cs typeface="Arial"/>
                </a:rPr>
                <a:t>High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B1020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02920" y="255270"/>
            <a:ext cx="12393701" cy="897255"/>
            <a:chOff x="502920" y="255270"/>
            <a:chExt cx="12393701" cy="897255"/>
          </a:xfrm>
        </p:grpSpPr>
        <p:sp>
          <p:nvSpPr>
            <p:cNvPr id="5" name="TextBox 5"/>
            <p:cNvSpPr txBox="1"/>
            <p:nvPr/>
          </p:nvSpPr>
          <p:spPr>
            <a:xfrm>
              <a:off x="502920" y="255270"/>
              <a:ext cx="12393701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Novelty comes from system integration plus endpoint-specific optimization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33400" y="714375"/>
              <a:ext cx="11125200" cy="438150"/>
            </a:xfrm>
            <a:prstGeom prst="roundRect">
              <a:avLst>
                <a:gd name="adj" fmla="val 17391"/>
              </a:avLst>
            </a:prstGeom>
            <a:solidFill>
              <a:srgbClr val="16213A"/>
            </a:solidFill>
            <a:ln w="9525">
              <a:solidFill>
                <a:srgbClr val="1F2A4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25805" y="854392"/>
              <a:ext cx="499391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The work is in real links, real devices, and real metrics.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12604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15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666750" y="1476375"/>
            <a:ext cx="11049000" cy="2857500"/>
            <a:chOff x="666750" y="1476375"/>
            <a:chExt cx="11049000" cy="2857500"/>
          </a:xfrm>
        </p:grpSpPr>
        <p:sp>
          <p:nvSpPr>
            <p:cNvPr id="10" name="Rectangle 10"/>
            <p:cNvSpPr/>
            <p:nvPr/>
          </p:nvSpPr>
          <p:spPr>
            <a:xfrm>
              <a:off x="666750" y="1476375"/>
              <a:ext cx="3429000" cy="2857500"/>
            </a:xfrm>
            <a:prstGeom prst="roundRect">
              <a:avLst>
                <a:gd name="adj" fmla="val 3333"/>
              </a:avLst>
            </a:prstGeom>
            <a:solidFill>
              <a:srgbClr val="111827"/>
            </a:solidFill>
            <a:ln w="9525">
              <a:solidFill>
                <a:srgbClr val="1F2A44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11542" y="1747361"/>
              <a:ext cx="253157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60A5FA"/>
                  </a:solidFill>
                  <a:latin typeface="Arial"/>
                  <a:ea typeface="Microsoft YaHei"/>
                  <a:cs typeface="Arial"/>
                </a:rPr>
                <a:t>Android service layer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16305" y="2235518"/>
              <a:ext cx="1448753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3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 xml:space="preserve">JNI / HTTP </a:t>
              </a:r>
              <a:r>
                <a:rPr lang="zh-CN" sz="13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 xml:space="preserve">stream / cancel </a:t>
              </a:r>
              <a:r>
                <a:rPr lang="zh-CN" sz="13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health telemetry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476750" y="1476375"/>
              <a:ext cx="3429000" cy="2857500"/>
            </a:xfrm>
            <a:prstGeom prst="roundRect">
              <a:avLst>
                <a:gd name="adj" fmla="val 3333"/>
              </a:avLst>
            </a:prstGeom>
            <a:solidFill>
              <a:srgbClr val="111827"/>
            </a:solidFill>
            <a:ln w="9525">
              <a:solidFill>
                <a:srgbClr val="1F2A44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721542" y="1747361"/>
              <a:ext cx="2326275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A78BFA"/>
                  </a:solidFill>
                  <a:latin typeface="Arial"/>
                  <a:ea typeface="Microsoft YaHei"/>
                  <a:cs typeface="Arial"/>
                </a:rPr>
                <a:t>vLLM-style memory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726305" y="2235518"/>
              <a:ext cx="1551623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3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 xml:space="preserve">Prefix KV Cache </a:t>
              </a:r>
              <a:r>
                <a:rPr lang="zh-CN" sz="13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 xml:space="preserve">paged-style reuse </a:t>
              </a:r>
              <a:r>
                <a:rPr lang="zh-CN" sz="13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chunked prefill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286750" y="1476375"/>
              <a:ext cx="3429000" cy="2857500"/>
            </a:xfrm>
            <a:prstGeom prst="roundRect">
              <a:avLst>
                <a:gd name="adj" fmla="val 3333"/>
              </a:avLst>
            </a:prstGeom>
            <a:solidFill>
              <a:srgbClr val="111827"/>
            </a:solidFill>
            <a:ln w="9525">
              <a:solidFill>
                <a:srgbClr val="1F2A44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531542" y="1747361"/>
              <a:ext cx="177075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22C55E"/>
                  </a:solidFill>
                  <a:latin typeface="Arial"/>
                  <a:ea typeface="Microsoft YaHei"/>
                  <a:cs typeface="Arial"/>
                </a:rPr>
                <a:t>Q8 Vulkan path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536305" y="2235518"/>
              <a:ext cx="1457325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3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 xml:space="preserve">Q8 W8A8 prefill </a:t>
              </a:r>
              <a:r>
                <a:rPr lang="zh-CN" sz="13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 xml:space="preserve">LM-head timing </a:t>
              </a:r>
              <a:r>
                <a:rPr lang="zh-CN" sz="13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descriptor cache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66750" y="3667125"/>
            <a:ext cx="11049000" cy="2857500"/>
            <a:chOff x="666750" y="3667125"/>
            <a:chExt cx="11049000" cy="2857500"/>
          </a:xfrm>
        </p:grpSpPr>
        <p:sp>
          <p:nvSpPr>
            <p:cNvPr id="20" name="Rectangle 20"/>
            <p:cNvSpPr/>
            <p:nvPr/>
          </p:nvSpPr>
          <p:spPr>
            <a:xfrm>
              <a:off x="666750" y="3667125"/>
              <a:ext cx="3429000" cy="2857500"/>
            </a:xfrm>
            <a:prstGeom prst="roundRect">
              <a:avLst>
                <a:gd name="adj" fmla="val 3333"/>
              </a:avLst>
            </a:prstGeom>
            <a:solidFill>
              <a:srgbClr val="111827"/>
            </a:solidFill>
            <a:ln w="9525">
              <a:solidFill>
                <a:srgbClr val="1F2A44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11542" y="3938111"/>
              <a:ext cx="1311848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60A5FA"/>
                  </a:solidFill>
                  <a:latin typeface="Arial"/>
                  <a:ea typeface="Microsoft YaHei"/>
                  <a:cs typeface="Arial"/>
                </a:rPr>
                <a:t>8K context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16305" y="4426268"/>
              <a:ext cx="1688783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3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 xml:space="preserve">8192-token context </a:t>
              </a:r>
              <a:r>
                <a:rPr lang="zh-CN" sz="13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 xml:space="preserve">5488-token prefill </a:t>
              </a:r>
              <a:r>
                <a:rPr lang="zh-CN" sz="13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valid generation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476750" y="3667125"/>
              <a:ext cx="3429000" cy="2857500"/>
            </a:xfrm>
            <a:prstGeom prst="roundRect">
              <a:avLst>
                <a:gd name="adj" fmla="val 3333"/>
              </a:avLst>
            </a:prstGeom>
            <a:solidFill>
              <a:srgbClr val="111827"/>
            </a:solidFill>
            <a:ln w="9525">
              <a:solidFill>
                <a:srgbClr val="1F2A44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721542" y="3938111"/>
              <a:ext cx="2024363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22C55E"/>
                  </a:solidFill>
                  <a:latin typeface="Arial"/>
                  <a:ea typeface="Microsoft YaHei"/>
                  <a:cs typeface="Arial"/>
                </a:rPr>
                <a:t>Benchmark gates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726305" y="4426268"/>
              <a:ext cx="1800225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3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 xml:space="preserve">TTFT / TPS / submit </a:t>
              </a:r>
              <a:r>
                <a:rPr lang="zh-CN" sz="13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 xml:space="preserve">descriptor allocation </a:t>
              </a:r>
              <a:r>
                <a:rPr lang="zh-CN" sz="13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correctness checks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286750" y="3667125"/>
              <a:ext cx="3429000" cy="2857500"/>
            </a:xfrm>
            <a:prstGeom prst="roundRect">
              <a:avLst>
                <a:gd name="adj" fmla="val 3333"/>
              </a:avLst>
            </a:prstGeom>
            <a:solidFill>
              <a:srgbClr val="111827"/>
            </a:solidFill>
            <a:ln w="9525">
              <a:solidFill>
                <a:srgbClr val="1F2A44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531542" y="3938111"/>
              <a:ext cx="1867368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EF4444"/>
                  </a:solidFill>
                  <a:latin typeface="Arial"/>
                  <a:ea typeface="Microsoft YaHei"/>
                  <a:cs typeface="Arial"/>
                </a:rPr>
                <a:t>Failure analysis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536305" y="4426268"/>
              <a:ext cx="2263140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3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 xml:space="preserve">OpenCL namespace </a:t>
              </a:r>
              <a:r>
                <a:rPr lang="zh-CN" sz="13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 xml:space="preserve">Adreno Vulkan correctness </a:t>
              </a:r>
              <a:r>
                <a:rPr lang="zh-CN" sz="13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fallback strategy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B1020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815340" y="1283018"/>
            <a:ext cx="7871460" cy="2727007"/>
            <a:chOff x="815340" y="1283018"/>
            <a:chExt cx="7871460" cy="2727007"/>
          </a:xfrm>
        </p:grpSpPr>
        <p:sp>
          <p:nvSpPr>
            <p:cNvPr id="5" name="TextBox 5"/>
            <p:cNvSpPr txBox="1"/>
            <p:nvPr/>
          </p:nvSpPr>
          <p:spPr>
            <a:xfrm>
              <a:off x="840105" y="1283018"/>
              <a:ext cx="122513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0A5FA"/>
                  </a:solidFill>
                  <a:latin typeface="Arial"/>
                  <a:ea typeface="Microsoft YaHei"/>
                  <a:cs typeface="Arial"/>
                </a:rPr>
                <a:t>FINAL ANSWER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15340" y="1834515"/>
              <a:ext cx="6706648" cy="12230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4350"/>
                </a:lnSpc>
              </a:pPr>
              <a:r>
                <a:rPr lang="zh-CN" sz="33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 xml:space="preserve">OSH26 Runtime makes </a:t>
              </a:r>
              <a:r>
                <a:rPr lang="zh-CN" sz="3300" b="1" dirty="0">
                  <a:solidFill>
                    <a:srgbClr val="F8FAFC"/>
                  </a:solidFill>
                  <a:latin typeface="Arial"/>
                  <a:ea typeface="Microsoft YaHei"/>
                  <a:cs typeface="Arial"/>
                </a:rPr>
                <a:t>local Android Agents deployable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34390" y="3282315"/>
              <a:ext cx="7852410" cy="7277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 xml:space="preserve">Faster first token, reusable memory, small-concurrency readiness, </a:t>
              </a:r>
              <a:r>
                <a:rPr lang="zh-CN" sz="180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and explainable runtime state make it more than a llama.cpp wrapper.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76300" y="4743450"/>
            <a:ext cx="10382250" cy="857250"/>
            <a:chOff x="876300" y="4743450"/>
            <a:chExt cx="10382250" cy="857250"/>
          </a:xfrm>
        </p:grpSpPr>
        <p:sp>
          <p:nvSpPr>
            <p:cNvPr id="9" name="Rectangle 9"/>
            <p:cNvSpPr/>
            <p:nvPr/>
          </p:nvSpPr>
          <p:spPr>
            <a:xfrm>
              <a:off x="876300" y="4743450"/>
              <a:ext cx="2381250" cy="857250"/>
            </a:xfrm>
            <a:prstGeom prst="roundRect">
              <a:avLst>
                <a:gd name="adj" fmla="val 11111"/>
              </a:avLst>
            </a:prstGeom>
            <a:solidFill>
              <a:srgbClr val="111827"/>
            </a:solidFill>
            <a:ln w="9525">
              <a:solidFill>
                <a:srgbClr val="1F2A44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3543300" y="4743450"/>
              <a:ext cx="2381250" cy="857250"/>
            </a:xfrm>
            <a:prstGeom prst="roundRect">
              <a:avLst>
                <a:gd name="adj" fmla="val 11111"/>
              </a:avLst>
            </a:prstGeom>
            <a:solidFill>
              <a:srgbClr val="111827"/>
            </a:solidFill>
            <a:ln w="9525">
              <a:solidFill>
                <a:srgbClr val="1F2A44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210300" y="4743450"/>
              <a:ext cx="2381250" cy="857250"/>
            </a:xfrm>
            <a:prstGeom prst="roundRect">
              <a:avLst>
                <a:gd name="adj" fmla="val 11111"/>
              </a:avLst>
            </a:prstGeom>
            <a:solidFill>
              <a:srgbClr val="111827"/>
            </a:solidFill>
            <a:ln w="9525">
              <a:solidFill>
                <a:srgbClr val="1F2A44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8877300" y="4743450"/>
              <a:ext cx="2381250" cy="857250"/>
            </a:xfrm>
            <a:prstGeom prst="roundRect">
              <a:avLst>
                <a:gd name="adj" fmla="val 11111"/>
              </a:avLst>
            </a:prstGeom>
            <a:solidFill>
              <a:srgbClr val="111827"/>
            </a:solidFill>
            <a:ln w="9525">
              <a:solidFill>
                <a:srgbClr val="1F2A44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133475" y="4900612"/>
              <a:ext cx="92350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2C55E"/>
                  </a:solidFill>
                  <a:latin typeface="Consolas"/>
                  <a:ea typeface="Microsoft YaHei"/>
                  <a:cs typeface="Consolas"/>
                </a:rPr>
                <a:t>9.34x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800475" y="4900612"/>
              <a:ext cx="92350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2C55E"/>
                  </a:solidFill>
                  <a:latin typeface="Consolas"/>
                  <a:ea typeface="Microsoft YaHei"/>
                  <a:cs typeface="Consolas"/>
                </a:rPr>
                <a:t>3.10x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467475" y="4900612"/>
              <a:ext cx="403693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60A5FA"/>
                  </a:solidFill>
                  <a:latin typeface="Consolas"/>
                  <a:ea typeface="Microsoft YaHei"/>
                  <a:cs typeface="Consolas"/>
                </a:rPr>
                <a:t>8K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134475" y="4900612"/>
              <a:ext cx="750237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60A5FA"/>
                  </a:solidFill>
                  <a:latin typeface="Consolas"/>
                  <a:ea typeface="Microsoft YaHei"/>
                  <a:cs typeface="Consolas"/>
                </a:rPr>
                <a:t>1.7B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48715" y="5296852"/>
              <a:ext cx="6847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Q8 prefill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15715" y="5296852"/>
              <a:ext cx="8807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Prefix cache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82715" y="5296852"/>
              <a:ext cx="5657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Context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149715" y="5296852"/>
              <a:ext cx="13358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BD5E1"/>
                  </a:solidFill>
                  <a:latin typeface="Arial"/>
                  <a:ea typeface="Microsoft YaHei"/>
                  <a:cs typeface="Arial"/>
                </a:rPr>
                <a:t>Q8 model validation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46772" y="6578441"/>
            <a:ext cx="10555605" cy="167640"/>
            <a:chOff x="846772" y="6578441"/>
            <a:chExt cx="10555605" cy="167640"/>
          </a:xfrm>
        </p:grpSpPr>
        <p:sp>
          <p:nvSpPr>
            <p:cNvPr id="22" name="TextBox 22"/>
            <p:cNvSpPr txBox="1"/>
            <p:nvPr/>
          </p:nvSpPr>
          <p:spPr>
            <a:xfrm>
              <a:off x="846772" y="6578441"/>
              <a:ext cx="5380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Thank you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260407" y="657844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2026-06-09T09:00:41Z</dcterms:created>
  <dcterms:modified xsi:type="dcterms:W3CDTF">2026-06-09T09:00:41Z</dcterms:modified>
  <cp:category/>
  <cp:contentStatus/>
</cp:coreProperties>
</file>